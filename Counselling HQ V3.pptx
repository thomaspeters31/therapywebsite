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63" r:id="rId3"/>
    <p:sldId id="257" r:id="rId4"/>
    <p:sldId id="274" r:id="rId5"/>
    <p:sldId id="258" r:id="rId6"/>
    <p:sldId id="259" r:id="rId7"/>
    <p:sldId id="260" r:id="rId8"/>
    <p:sldId id="278" r:id="rId9"/>
    <p:sldId id="279" r:id="rId10"/>
    <p:sldId id="265" r:id="rId11"/>
    <p:sldId id="275" r:id="rId12"/>
    <p:sldId id="267" r:id="rId13"/>
    <p:sldId id="264" r:id="rId14"/>
    <p:sldId id="268" r:id="rId15"/>
    <p:sldId id="270" r:id="rId16"/>
    <p:sldId id="262" r:id="rId17"/>
    <p:sldId id="272" r:id="rId18"/>
    <p:sldId id="277" r:id="rId19"/>
    <p:sldId id="266" r:id="rId20"/>
    <p:sldId id="276" r:id="rId21"/>
    <p:sldId id="27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43902-EBB1-41BB-972B-03DF31E80DC8}" v="12" dt="2026-01-19T19:17:11.0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465" autoAdjust="0"/>
  </p:normalViewPr>
  <p:slideViewPr>
    <p:cSldViewPr snapToGrid="0">
      <p:cViewPr>
        <p:scale>
          <a:sx n="76" d="100"/>
          <a:sy n="76" d="100"/>
        </p:scale>
        <p:origin x="824" y="4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asha Hilton" userId="9dbd0c7f54a95168" providerId="LiveId" clId="{7B564472-CC44-4E64-81D3-EDBA025F0C62}"/>
    <pc:docChg chg="custSel addSld modSld">
      <pc:chgData name="Natasha Hilton" userId="9dbd0c7f54a95168" providerId="LiveId" clId="{7B564472-CC44-4E64-81D3-EDBA025F0C62}" dt="2026-01-19T19:18:28.792" v="683" actId="1076"/>
      <pc:docMkLst>
        <pc:docMk/>
      </pc:docMkLst>
      <pc:sldChg chg="addSp delSp modSp mod">
        <pc:chgData name="Natasha Hilton" userId="9dbd0c7f54a95168" providerId="LiveId" clId="{7B564472-CC44-4E64-81D3-EDBA025F0C62}" dt="2026-01-19T18:47:25.545" v="538" actId="20577"/>
        <pc:sldMkLst>
          <pc:docMk/>
          <pc:sldMk cId="881693865" sldId="257"/>
        </pc:sldMkLst>
        <pc:spChg chg="mod">
          <ac:chgData name="Natasha Hilton" userId="9dbd0c7f54a95168" providerId="LiveId" clId="{7B564472-CC44-4E64-81D3-EDBA025F0C62}" dt="2026-01-19T18:47:25.545" v="538" actId="20577"/>
          <ac:spMkLst>
            <pc:docMk/>
            <pc:sldMk cId="881693865" sldId="257"/>
            <ac:spMk id="2" creationId="{7F48B47B-DA1F-D19C-C33D-8BB7DADD845B}"/>
          </ac:spMkLst>
        </pc:spChg>
        <pc:spChg chg="mod">
          <ac:chgData name="Natasha Hilton" userId="9dbd0c7f54a95168" providerId="LiveId" clId="{7B564472-CC44-4E64-81D3-EDBA025F0C62}" dt="2026-01-19T12:25:30.781" v="333" actId="20577"/>
          <ac:spMkLst>
            <pc:docMk/>
            <pc:sldMk cId="881693865" sldId="257"/>
            <ac:spMk id="3" creationId="{3FA752B2-7062-E468-1CC3-F4E13E3BEA38}"/>
          </ac:spMkLst>
        </pc:spChg>
        <pc:picChg chg="del">
          <ac:chgData name="Natasha Hilton" userId="9dbd0c7f54a95168" providerId="LiveId" clId="{7B564472-CC44-4E64-81D3-EDBA025F0C62}" dt="2026-01-19T12:25:19.706" v="329" actId="478"/>
          <ac:picMkLst>
            <pc:docMk/>
            <pc:sldMk cId="881693865" sldId="257"/>
            <ac:picMk id="6" creationId="{95E1260F-E775-45BD-A2DF-3D08570A92F4}"/>
          </ac:picMkLst>
        </pc:picChg>
        <pc:picChg chg="add mod">
          <ac:chgData name="Natasha Hilton" userId="9dbd0c7f54a95168" providerId="LiveId" clId="{7B564472-CC44-4E64-81D3-EDBA025F0C62}" dt="2026-01-19T12:25:26.654" v="332" actId="1076"/>
          <ac:picMkLst>
            <pc:docMk/>
            <pc:sldMk cId="881693865" sldId="257"/>
            <ac:picMk id="8" creationId="{E7B96E6E-79B1-96BF-D813-60E490844634}"/>
          </ac:picMkLst>
        </pc:picChg>
      </pc:sldChg>
      <pc:sldChg chg="modSp mod">
        <pc:chgData name="Natasha Hilton" userId="9dbd0c7f54a95168" providerId="LiveId" clId="{7B564472-CC44-4E64-81D3-EDBA025F0C62}" dt="2026-01-19T18:50:53.997" v="626" actId="5793"/>
        <pc:sldMkLst>
          <pc:docMk/>
          <pc:sldMk cId="1438575921" sldId="258"/>
        </pc:sldMkLst>
        <pc:spChg chg="mod">
          <ac:chgData name="Natasha Hilton" userId="9dbd0c7f54a95168" providerId="LiveId" clId="{7B564472-CC44-4E64-81D3-EDBA025F0C62}" dt="2026-01-19T18:49:06.052" v="579" actId="20577"/>
          <ac:spMkLst>
            <pc:docMk/>
            <pc:sldMk cId="1438575921" sldId="258"/>
            <ac:spMk id="2" creationId="{B9DFF607-0321-566B-53D4-90A58060472B}"/>
          </ac:spMkLst>
        </pc:spChg>
        <pc:spChg chg="mod">
          <ac:chgData name="Natasha Hilton" userId="9dbd0c7f54a95168" providerId="LiveId" clId="{7B564472-CC44-4E64-81D3-EDBA025F0C62}" dt="2026-01-19T18:50:53.997" v="626" actId="5793"/>
          <ac:spMkLst>
            <pc:docMk/>
            <pc:sldMk cId="1438575921" sldId="258"/>
            <ac:spMk id="3" creationId="{040A6E1E-4F2C-6275-9B0C-79EA5B7EEE36}"/>
          </ac:spMkLst>
        </pc:spChg>
      </pc:sldChg>
      <pc:sldChg chg="addSp delSp modSp mod">
        <pc:chgData name="Natasha Hilton" userId="9dbd0c7f54a95168" providerId="LiveId" clId="{7B564472-CC44-4E64-81D3-EDBA025F0C62}" dt="2026-01-19T19:18:28.792" v="683" actId="1076"/>
        <pc:sldMkLst>
          <pc:docMk/>
          <pc:sldMk cId="4271615751" sldId="259"/>
        </pc:sldMkLst>
        <pc:spChg chg="mod">
          <ac:chgData name="Natasha Hilton" userId="9dbd0c7f54a95168" providerId="LiveId" clId="{7B564472-CC44-4E64-81D3-EDBA025F0C62}" dt="2026-01-19T19:18:28.792" v="683" actId="1076"/>
          <ac:spMkLst>
            <pc:docMk/>
            <pc:sldMk cId="4271615751" sldId="259"/>
            <ac:spMk id="2" creationId="{52C0E79A-7548-AC22-93C4-14B4633E6EA6}"/>
          </ac:spMkLst>
        </pc:spChg>
        <pc:spChg chg="mod">
          <ac:chgData name="Natasha Hilton" userId="9dbd0c7f54a95168" providerId="LiveId" clId="{7B564472-CC44-4E64-81D3-EDBA025F0C62}" dt="2026-01-19T19:16:54.345" v="657" actId="1076"/>
          <ac:spMkLst>
            <pc:docMk/>
            <pc:sldMk cId="4271615751" sldId="259"/>
            <ac:spMk id="3" creationId="{81FBC4D0-7372-4A8E-04DC-0FC929092BC6}"/>
          </ac:spMkLst>
        </pc:spChg>
        <pc:spChg chg="del">
          <ac:chgData name="Natasha Hilton" userId="9dbd0c7f54a95168" providerId="LiveId" clId="{7B564472-CC44-4E64-81D3-EDBA025F0C62}" dt="2026-01-19T19:16:14.100" v="654" actId="478"/>
          <ac:spMkLst>
            <pc:docMk/>
            <pc:sldMk cId="4271615751" sldId="259"/>
            <ac:spMk id="8" creationId="{1859B80B-B29B-AC6E-1F47-71618B97D05A}"/>
          </ac:spMkLst>
        </pc:spChg>
        <pc:graphicFrameChg chg="add del mod">
          <ac:chgData name="Natasha Hilton" userId="9dbd0c7f54a95168" providerId="LiveId" clId="{7B564472-CC44-4E64-81D3-EDBA025F0C62}" dt="2026-01-19T19:16:46.406" v="656" actId="478"/>
          <ac:graphicFrameMkLst>
            <pc:docMk/>
            <pc:sldMk cId="4271615751" sldId="259"/>
            <ac:graphicFrameMk id="4" creationId="{C875CC09-A73D-0E75-94C5-0D29CD15DD58}"/>
          </ac:graphicFrameMkLst>
        </pc:graphicFrameChg>
      </pc:sldChg>
      <pc:sldChg chg="modSp mod">
        <pc:chgData name="Natasha Hilton" userId="9dbd0c7f54a95168" providerId="LiveId" clId="{7B564472-CC44-4E64-81D3-EDBA025F0C62}" dt="2026-01-19T18:46:49.616" v="514"/>
        <pc:sldMkLst>
          <pc:docMk/>
          <pc:sldMk cId="2479609381" sldId="263"/>
        </pc:sldMkLst>
        <pc:spChg chg="mod">
          <ac:chgData name="Natasha Hilton" userId="9dbd0c7f54a95168" providerId="LiveId" clId="{7B564472-CC44-4E64-81D3-EDBA025F0C62}" dt="2026-01-19T18:46:49.616" v="514"/>
          <ac:spMkLst>
            <pc:docMk/>
            <pc:sldMk cId="2479609381" sldId="263"/>
            <ac:spMk id="2" creationId="{6F418DFB-751B-5AFF-E4EB-262ACCCD8C7B}"/>
          </ac:spMkLst>
        </pc:spChg>
        <pc:spChg chg="mod">
          <ac:chgData name="Natasha Hilton" userId="9dbd0c7f54a95168" providerId="LiveId" clId="{7B564472-CC44-4E64-81D3-EDBA025F0C62}" dt="2026-01-19T12:27:39.605" v="359" actId="255"/>
          <ac:spMkLst>
            <pc:docMk/>
            <pc:sldMk cId="2479609381" sldId="263"/>
            <ac:spMk id="5" creationId="{2FFD2F77-6DCD-FF15-2E5F-2D727C26D64A}"/>
          </ac:spMkLst>
        </pc:spChg>
      </pc:sldChg>
      <pc:sldChg chg="delSp mod">
        <pc:chgData name="Natasha Hilton" userId="9dbd0c7f54a95168" providerId="LiveId" clId="{7B564472-CC44-4E64-81D3-EDBA025F0C62}" dt="2026-01-19T14:02:54.877" v="513" actId="478"/>
        <pc:sldMkLst>
          <pc:docMk/>
          <pc:sldMk cId="1162207860" sldId="264"/>
        </pc:sldMkLst>
        <pc:picChg chg="del">
          <ac:chgData name="Natasha Hilton" userId="9dbd0c7f54a95168" providerId="LiveId" clId="{7B564472-CC44-4E64-81D3-EDBA025F0C62}" dt="2026-01-19T14:02:54.877" v="513" actId="478"/>
          <ac:picMkLst>
            <pc:docMk/>
            <pc:sldMk cId="1162207860" sldId="264"/>
            <ac:picMk id="14" creationId="{68562300-6C2B-52B0-410D-E68F75D32A41}"/>
          </ac:picMkLst>
        </pc:picChg>
      </pc:sldChg>
      <pc:sldChg chg="modSp mod">
        <pc:chgData name="Natasha Hilton" userId="9dbd0c7f54a95168" providerId="LiveId" clId="{7B564472-CC44-4E64-81D3-EDBA025F0C62}" dt="2026-01-17T14:54:43.892" v="167" actId="207"/>
        <pc:sldMkLst>
          <pc:docMk/>
          <pc:sldMk cId="3150569295" sldId="265"/>
        </pc:sldMkLst>
        <pc:spChg chg="mod">
          <ac:chgData name="Natasha Hilton" userId="9dbd0c7f54a95168" providerId="LiveId" clId="{7B564472-CC44-4E64-81D3-EDBA025F0C62}" dt="2026-01-17T14:54:43.892" v="167" actId="207"/>
          <ac:spMkLst>
            <pc:docMk/>
            <pc:sldMk cId="3150569295" sldId="265"/>
            <ac:spMk id="3" creationId="{D7B47CAE-3350-3A82-F904-550B37EA5DBA}"/>
          </ac:spMkLst>
        </pc:spChg>
        <pc:picChg chg="mod">
          <ac:chgData name="Natasha Hilton" userId="9dbd0c7f54a95168" providerId="LiveId" clId="{7B564472-CC44-4E64-81D3-EDBA025F0C62}" dt="2026-01-17T14:53:42.610" v="71" actId="1076"/>
          <ac:picMkLst>
            <pc:docMk/>
            <pc:sldMk cId="3150569295" sldId="265"/>
            <ac:picMk id="10" creationId="{0B7A50B3-E42F-5EEF-6616-15DE1190D566}"/>
          </ac:picMkLst>
        </pc:picChg>
      </pc:sldChg>
      <pc:sldChg chg="modSp mod">
        <pc:chgData name="Natasha Hilton" userId="9dbd0c7f54a95168" providerId="LiveId" clId="{7B564472-CC44-4E64-81D3-EDBA025F0C62}" dt="2026-01-19T18:56:11.057" v="647" actId="5793"/>
        <pc:sldMkLst>
          <pc:docMk/>
          <pc:sldMk cId="2226294379" sldId="266"/>
        </pc:sldMkLst>
        <pc:spChg chg="mod">
          <ac:chgData name="Natasha Hilton" userId="9dbd0c7f54a95168" providerId="LiveId" clId="{7B564472-CC44-4E64-81D3-EDBA025F0C62}" dt="2026-01-19T18:56:11.057" v="647" actId="5793"/>
          <ac:spMkLst>
            <pc:docMk/>
            <pc:sldMk cId="2226294379" sldId="266"/>
            <ac:spMk id="3" creationId="{6B95B647-961E-EF53-53BF-CCC851D2E0C3}"/>
          </ac:spMkLst>
        </pc:spChg>
      </pc:sldChg>
      <pc:sldChg chg="modSp mod">
        <pc:chgData name="Natasha Hilton" userId="9dbd0c7f54a95168" providerId="LiveId" clId="{7B564472-CC44-4E64-81D3-EDBA025F0C62}" dt="2026-01-19T18:55:04.805" v="645" actId="20577"/>
        <pc:sldMkLst>
          <pc:docMk/>
          <pc:sldMk cId="3300285759" sldId="267"/>
        </pc:sldMkLst>
        <pc:spChg chg="mod">
          <ac:chgData name="Natasha Hilton" userId="9dbd0c7f54a95168" providerId="LiveId" clId="{7B564472-CC44-4E64-81D3-EDBA025F0C62}" dt="2026-01-19T18:55:04.805" v="645" actId="20577"/>
          <ac:spMkLst>
            <pc:docMk/>
            <pc:sldMk cId="3300285759" sldId="267"/>
            <ac:spMk id="2" creationId="{FF0F397C-A35C-D495-1773-8239CDCCD5C3}"/>
          </ac:spMkLst>
        </pc:spChg>
        <pc:spChg chg="mod">
          <ac:chgData name="Natasha Hilton" userId="9dbd0c7f54a95168" providerId="LiveId" clId="{7B564472-CC44-4E64-81D3-EDBA025F0C62}" dt="2026-01-18T20:32:56.969" v="328" actId="27636"/>
          <ac:spMkLst>
            <pc:docMk/>
            <pc:sldMk cId="3300285759" sldId="267"/>
            <ac:spMk id="4" creationId="{EEFA88A0-56BE-20D6-A390-E98BEF004933}"/>
          </ac:spMkLst>
        </pc:spChg>
      </pc:sldChg>
      <pc:sldChg chg="modSp mod">
        <pc:chgData name="Natasha Hilton" userId="9dbd0c7f54a95168" providerId="LiveId" clId="{7B564472-CC44-4E64-81D3-EDBA025F0C62}" dt="2026-01-17T14:57:11.855" v="226" actId="113"/>
        <pc:sldMkLst>
          <pc:docMk/>
          <pc:sldMk cId="568578908" sldId="268"/>
        </pc:sldMkLst>
        <pc:spChg chg="mod">
          <ac:chgData name="Natasha Hilton" userId="9dbd0c7f54a95168" providerId="LiveId" clId="{7B564472-CC44-4E64-81D3-EDBA025F0C62}" dt="2026-01-17T14:55:20.540" v="169" actId="1076"/>
          <ac:spMkLst>
            <pc:docMk/>
            <pc:sldMk cId="568578908" sldId="268"/>
            <ac:spMk id="2" creationId="{A35F0467-A009-D3BD-B8C4-D807385DE384}"/>
          </ac:spMkLst>
        </pc:spChg>
        <pc:spChg chg="mod">
          <ac:chgData name="Natasha Hilton" userId="9dbd0c7f54a95168" providerId="LiveId" clId="{7B564472-CC44-4E64-81D3-EDBA025F0C62}" dt="2026-01-17T14:57:11.855" v="226" actId="113"/>
          <ac:spMkLst>
            <pc:docMk/>
            <pc:sldMk cId="568578908" sldId="268"/>
            <ac:spMk id="3" creationId="{FB4151E6-A08D-3212-F6ED-AFA7D2FDA7CC}"/>
          </ac:spMkLst>
        </pc:spChg>
      </pc:sldChg>
      <pc:sldChg chg="modSp mod">
        <pc:chgData name="Natasha Hilton" userId="9dbd0c7f54a95168" providerId="LiveId" clId="{7B564472-CC44-4E64-81D3-EDBA025F0C62}" dt="2026-01-19T18:54:20.494" v="632" actId="20577"/>
        <pc:sldMkLst>
          <pc:docMk/>
          <pc:sldMk cId="536049914" sldId="275"/>
        </pc:sldMkLst>
        <pc:spChg chg="mod">
          <ac:chgData name="Natasha Hilton" userId="9dbd0c7f54a95168" providerId="LiveId" clId="{7B564472-CC44-4E64-81D3-EDBA025F0C62}" dt="2026-01-19T18:53:52.317" v="631"/>
          <ac:spMkLst>
            <pc:docMk/>
            <pc:sldMk cId="536049914" sldId="275"/>
            <ac:spMk id="2" creationId="{BDBB44B5-75E8-D26F-DA9C-8768483093B2}"/>
          </ac:spMkLst>
        </pc:spChg>
        <pc:spChg chg="mod">
          <ac:chgData name="Natasha Hilton" userId="9dbd0c7f54a95168" providerId="LiveId" clId="{7B564472-CC44-4E64-81D3-EDBA025F0C62}" dt="2026-01-19T18:54:20.494" v="632" actId="20577"/>
          <ac:spMkLst>
            <pc:docMk/>
            <pc:sldMk cId="536049914" sldId="275"/>
            <ac:spMk id="3" creationId="{D53593D0-76FC-BD38-A247-A7B46389FF4E}"/>
          </ac:spMkLst>
        </pc:spChg>
      </pc:sldChg>
      <pc:sldChg chg="modSp mod">
        <pc:chgData name="Natasha Hilton" userId="9dbd0c7f54a95168" providerId="LiveId" clId="{7B564472-CC44-4E64-81D3-EDBA025F0C62}" dt="2026-01-19T18:56:29.291" v="651" actId="27636"/>
        <pc:sldMkLst>
          <pc:docMk/>
          <pc:sldMk cId="2388164406" sldId="276"/>
        </pc:sldMkLst>
        <pc:spChg chg="mod">
          <ac:chgData name="Natasha Hilton" userId="9dbd0c7f54a95168" providerId="LiveId" clId="{7B564472-CC44-4E64-81D3-EDBA025F0C62}" dt="2026-01-19T18:56:29.291" v="651" actId="27636"/>
          <ac:spMkLst>
            <pc:docMk/>
            <pc:sldMk cId="2388164406" sldId="276"/>
            <ac:spMk id="3" creationId="{F6F67BD0-360B-1AD6-FD13-90B3F24E9103}"/>
          </ac:spMkLst>
        </pc:spChg>
      </pc:sldChg>
      <pc:sldChg chg="delSp modSp new mod">
        <pc:chgData name="Natasha Hilton" userId="9dbd0c7f54a95168" providerId="LiveId" clId="{7B564472-CC44-4E64-81D3-EDBA025F0C62}" dt="2026-01-19T19:18:13.457" v="682" actId="27636"/>
        <pc:sldMkLst>
          <pc:docMk/>
          <pc:sldMk cId="2520096207" sldId="278"/>
        </pc:sldMkLst>
        <pc:spChg chg="mod">
          <ac:chgData name="Natasha Hilton" userId="9dbd0c7f54a95168" providerId="LiveId" clId="{7B564472-CC44-4E64-81D3-EDBA025F0C62}" dt="2026-01-19T19:18:13.457" v="682" actId="27636"/>
          <ac:spMkLst>
            <pc:docMk/>
            <pc:sldMk cId="2520096207" sldId="278"/>
            <ac:spMk id="2" creationId="{87FE1D7F-46CE-1C3C-04D5-9E96BA246D84}"/>
          </ac:spMkLst>
        </pc:spChg>
        <pc:spChg chg="mod">
          <ac:chgData name="Natasha Hilton" userId="9dbd0c7f54a95168" providerId="LiveId" clId="{7B564472-CC44-4E64-81D3-EDBA025F0C62}" dt="2026-01-19T14:02:26.601" v="512" actId="6549"/>
          <ac:spMkLst>
            <pc:docMk/>
            <pc:sldMk cId="2520096207" sldId="278"/>
            <ac:spMk id="3" creationId="{AC0A7B1B-C3DB-97FF-1F6C-83369C602D35}"/>
          </ac:spMkLst>
        </pc:spChg>
        <pc:spChg chg="del">
          <ac:chgData name="Natasha Hilton" userId="9dbd0c7f54a95168" providerId="LiveId" clId="{7B564472-CC44-4E64-81D3-EDBA025F0C62}" dt="2026-01-19T19:15:51.091" v="652" actId="478"/>
          <ac:spMkLst>
            <pc:docMk/>
            <pc:sldMk cId="2520096207" sldId="278"/>
            <ac:spMk id="4" creationId="{61AC23F9-E51D-2070-4AD8-38BECBCAFAED}"/>
          </ac:spMkLst>
        </pc:spChg>
      </pc:sldChg>
      <pc:sldChg chg="addSp delSp modSp new mod">
        <pc:chgData name="Natasha Hilton" userId="9dbd0c7f54a95168" providerId="LiveId" clId="{7B564472-CC44-4E64-81D3-EDBA025F0C62}" dt="2026-01-19T19:17:53.546" v="680" actId="20577"/>
        <pc:sldMkLst>
          <pc:docMk/>
          <pc:sldMk cId="3482519978" sldId="279"/>
        </pc:sldMkLst>
        <pc:spChg chg="mod">
          <ac:chgData name="Natasha Hilton" userId="9dbd0c7f54a95168" providerId="LiveId" clId="{7B564472-CC44-4E64-81D3-EDBA025F0C62}" dt="2026-01-19T19:17:53.546" v="680" actId="20577"/>
          <ac:spMkLst>
            <pc:docMk/>
            <pc:sldMk cId="3482519978" sldId="279"/>
            <ac:spMk id="2" creationId="{13D15A5A-C4A4-9F26-F97A-A55523249547}"/>
          </ac:spMkLst>
        </pc:spChg>
        <pc:graphicFrameChg chg="add del mod">
          <ac:chgData name="Natasha Hilton" userId="9dbd0c7f54a95168" providerId="LiveId" clId="{7B564472-CC44-4E64-81D3-EDBA025F0C62}" dt="2026-01-19T19:17:18.425" v="660" actId="478"/>
          <ac:graphicFrameMkLst>
            <pc:docMk/>
            <pc:sldMk cId="3482519978" sldId="279"/>
            <ac:graphicFrameMk id="3" creationId="{7292B3B3-E8B3-ABC5-B632-C989EB440FDB}"/>
          </ac:graphicFrameMkLst>
        </pc:graphicFrameChg>
        <pc:picChg chg="add">
          <ac:chgData name="Natasha Hilton" userId="9dbd0c7f54a95168" providerId="LiveId" clId="{7B564472-CC44-4E64-81D3-EDBA025F0C62}" dt="2026-01-19T19:17:40.678" v="661" actId="22"/>
          <ac:picMkLst>
            <pc:docMk/>
            <pc:sldMk cId="3482519978" sldId="279"/>
            <ac:picMk id="5" creationId="{C3C90B3E-31EB-815C-CB0F-C578E0D8E7E5}"/>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vert="horz" lIns="91440" tIns="45720" rIns="91440" bIns="45720" rtlCol="0" anchor="b">
            <a:norm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67B50E4-2343-4B20-80BE-1605C97DFB16}" type="datetime1">
              <a:rPr lang="en-US" smtClean="0"/>
              <a:t>1/19/2026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28406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2DE44A-7CD8-4860-9BDC-2BE4C911F6D0}" type="datetime1">
              <a:rPr lang="en-US" smtClean="0"/>
              <a:t>1/19/2026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69062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vert="horz" lIns="91440" tIns="45720" rIns="91440" bIns="45720" rtlCol="0" anchor="b">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E38EAEAF-D16E-446F-97F9-D23FB245CB45}" type="datetime1">
              <a:rPr lang="en-US" smtClean="0"/>
              <a:t>1/19/2026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82589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vert="horz" lIns="91440" tIns="45720" rIns="91440" bIns="45720" rtlCol="0" anchor="b">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782E7A21-5BA8-4C4C-9705-3A1EA342AD8A}" type="datetime1">
              <a:rPr lang="en-US" smtClean="0"/>
              <a:t>1/19/2026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96906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vert="horz" lIns="91440" tIns="45720" rIns="91440" bIns="45720" rtlCol="0" anchor="t">
            <a:normAutofit/>
          </a:bodyPr>
          <a:lstStyle>
            <a:lvl1pPr>
              <a:defRPr lang="en-US" sz="7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CBE73BE-5F1F-40EF-8F67-E3F24D65884D}" type="datetime1">
              <a:rPr lang="en-US" smtClean="0"/>
              <a:t>1/19/2026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62321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vert="horz" lIns="91440" tIns="45720" rIns="91440" bIns="45720" rtlCol="0" anchor="b">
            <a:normAutofit/>
          </a:bodyPr>
          <a:lstStyle>
            <a:lvl1pPr>
              <a:defRPr lang="en-US" sz="7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C868EF1-668D-4AD0-8652-1F3B3622EDC2}" type="datetime1">
              <a:rPr lang="en-US" smtClean="0"/>
              <a:t>1/19/2026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0953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E95609F-9B5B-4E29-8DB1-457A85E01A27}" type="datetime1">
              <a:rPr lang="en-US" smtClean="0"/>
              <a:t>1/19/2026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498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vert="horz" lIns="91440" tIns="45720" rIns="91440" bIns="45720" rtlCol="0" anchor="b">
            <a:normAutofit/>
          </a:bodyPr>
          <a:lstStyle>
            <a:lvl1pPr>
              <a:defRPr lang="en-US" sz="7400" dirty="0"/>
            </a:lvl1pPr>
          </a:lstStyle>
          <a:p>
            <a:pPr lvl="0"/>
            <a:r>
              <a:rPr lang="en-US" dirty="0"/>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6A0DE37-B9D6-425C-B79B-6C6DFFBD0DA2}" type="datetime1">
              <a:rPr lang="en-US" smtClean="0"/>
              <a:t>1/19/2026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2718914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045B0EE-4023-4E3C-8875-10AA631453CF}" type="datetime1">
              <a:rPr lang="en-US" smtClean="0"/>
              <a:t>1/19/2026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0077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6099048"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CE6CA204-B091-40ED-8158-331EE628B522}" type="datetime1">
              <a:rPr lang="en-US" smtClean="0"/>
              <a:t>1/19/2026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99430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3692F09-9D88-4105-92F6-7298804EAA90}" type="datetime1">
              <a:rPr lang="en-US" smtClean="0"/>
              <a:t>1/19/2026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12050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3744F96-061D-4D71-97A2-2371A43FDE7C}" type="datetime1">
              <a:rPr lang="en-US" smtClean="0"/>
              <a:t>1/19/2026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178587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C5FE133-02A7-439F-9131-2680F754099D}" type="datetime1">
              <a:rPr lang="en-US" smtClean="0"/>
              <a:t>1/19/2026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415790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1BF7DD-C7D0-4333-B18D-CCAF5427F9DD}" type="datetime1">
              <a:rPr lang="en-US" smtClean="0"/>
              <a:t>1/19/2026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93792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0415979-091A-4302-A385-56FC1CE52E32}" type="datetime1">
              <a:rPr lang="en-US" smtClean="0"/>
              <a:t>1/19/2026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24302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836D543-476D-434F-B209-1A114B2E3F04}" type="datetime1">
              <a:rPr lang="en-US" smtClean="0"/>
              <a:t>1/19/2026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290059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83DD0F20-7689-42E6-8664-6AA00B79F132}" type="datetime1">
              <a:rPr lang="en-US" smtClean="0"/>
              <a:t>1/19/2026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72199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30F2F577-5BDA-4749-9F3F-0D340DC0D6A8}" type="datetime1">
              <a:rPr lang="en-US" smtClean="0"/>
              <a:t>1/19/2026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154580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AC9378AD-A6D7-4162-BB5C-47C49B2E145B}" type="datetime1">
              <a:rPr lang="en-US" smtClean="0"/>
              <a:t>1/19/2026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691774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C67B65D3-547A-48A8-9F1F-13ED0B55ACC6}" type="datetime1">
              <a:rPr lang="en-US" smtClean="0"/>
              <a:t>1/19/2026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502754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76A7CFE7-E645-4439-AA6B-DA8CF856D63E}" type="datetime1">
              <a:rPr lang="en-US" smtClean="0"/>
              <a:t>1/19/2026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880698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E8B2C0DB-994F-48B0-91F4-5F06C3B86E32}" type="datetime1">
              <a:rPr lang="en-US" smtClean="0"/>
              <a:t>1/19/2026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059715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D3F6A089-BE3E-4BB0-98EE-FDF712FF3613}" type="datetime1">
              <a:rPr lang="en-US" smtClean="0"/>
              <a:t>1/19/2026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3900161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AC101298-AE91-4071-9C72-5A98117ABE14}" type="datetime1">
              <a:rPr lang="en-US" smtClean="0"/>
              <a:t>1/19/2026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354557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ABE4333-790C-44CD-B503-F52418ED809A}" type="datetime1">
              <a:rPr lang="en-US" smtClean="0"/>
              <a:t>1/19/2026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18920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78136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D2397CCD-8E49-4379-8DCB-9F17CAEDFC10}" type="datetime1">
              <a:rPr lang="en-US" smtClean="0"/>
              <a:t>1/19/2026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11174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A6146F6-C62B-441B-BAD2-D550454B4D53}" type="datetime1">
              <a:rPr lang="en-US" smtClean="0"/>
              <a:t>1/19/2026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758744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0383A68-D563-4FD5-B11F-54F8D5F1E37F}" type="datetime1">
              <a:rPr lang="en-US" smtClean="0"/>
              <a:t>1/19/2026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678011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3148FABB-02FF-476F-AB37-BDD0E354E780}" type="datetime1">
              <a:rPr lang="en-US" smtClean="0"/>
              <a:t>1/19/2026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602956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5" y="1828800"/>
            <a:ext cx="6172200" cy="4425696"/>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A428D3-736A-4038-886C-8BF662AA2745}" type="datetime1">
              <a:rPr lang="en-US" smtClean="0"/>
              <a:t>1/19/2026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448529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8" y="2290890"/>
            <a:ext cx="4672584"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ED1DDEB-9B85-4E99-8A3D-ABE66C6280C3}" type="datetime1">
              <a:rPr lang="en-US" smtClean="0"/>
              <a:t>1/19/2026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155119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4"/>
            <a:ext cx="3490176"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A65DCA-443F-4667-9ED1-418507CE45A8}" type="datetime1">
              <a:rPr lang="en-US" smtClean="0"/>
              <a:t>1/19/2026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738433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94944" y="4718304"/>
            <a:ext cx="5897880" cy="1353312"/>
          </a:xfrm>
        </p:spPr>
        <p:txBody>
          <a:bodyPr vert="horz" lIns="91440" tIns="45720" rIns="91440" bIns="45720" rtlCol="0" anchor="t">
            <a:normAutofit/>
          </a:bodyPr>
          <a:lstStyle>
            <a:lvl1pPr>
              <a:lnSpc>
                <a:spcPct val="120000"/>
              </a:lnSpc>
              <a:defRPr lang="en-US" sz="2800" b="0" dirty="0">
                <a:solidFill>
                  <a:schemeClr val="accent1">
                    <a:lumMod val="75000"/>
                  </a:schemeClr>
                </a:solidFill>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9496" y="603503"/>
            <a:ext cx="10826496" cy="4334256"/>
          </a:xfrm>
        </p:spPr>
        <p:txBody>
          <a:bodyPr vert="horz" lIns="91440" tIns="45720" rIns="91440" bIns="45720" rtlCol="0" anchor="b">
            <a:normAutofit/>
          </a:bodyPr>
          <a:lstStyle>
            <a:lvl1pPr marL="0" indent="0">
              <a:lnSpc>
                <a:spcPct val="90000"/>
              </a:lnSpc>
              <a:spcBef>
                <a:spcPts val="0"/>
              </a:spcBef>
              <a:buNone/>
              <a:defRPr lang="en-US" sz="23200" b="1" dirty="0">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8CA1557D-4816-44D0-B6EE-6CAC6E30B54D}" type="datetime1">
              <a:rPr lang="en-US" smtClean="0"/>
              <a:t>1/19/2026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490406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accent1">
                    <a:lumMod val="75000"/>
                  </a:schemeClr>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51F872E-5ED2-46B0-83A4-0C1AF0E0D91C}" type="datetime1">
              <a:rPr lang="en-US" smtClean="0"/>
              <a:t>1/19/2026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869902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4B1ECB8-9E10-D2F3-E361-7D268551E2E2}"/>
              </a:ext>
            </a:extLst>
          </p:cNvPr>
          <p:cNvSpPr/>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6218575-0C6E-47B4-936E-32183810D7BF}" type="datetime1">
              <a:rPr lang="en-US" smtClean="0"/>
              <a:t>1/19/2026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12023830"/>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1C29FB5-1C86-423F-AEAA-2683840666C3}" type="datetime1">
              <a:rPr lang="en-US" smtClean="0"/>
              <a:t>1/19/2026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544945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CCB4E-88AF-46AC-B7C5-30308F179659}" type="datetime1">
              <a:rPr lang="en-US" smtClean="0"/>
              <a:t>1/19/2026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559060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A915B6-CC2A-4462-A7E5-B3080DF8F97D}" type="datetime1">
              <a:rPr lang="en-US" smtClean="0"/>
              <a:t>1/19/2026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853504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8" y="5431536"/>
            <a:ext cx="9021471"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65760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6188F7-A494-4EEB-A53D-2B97B1D4CD3C}" type="datetime1">
              <a:rPr lang="en-US" smtClean="0"/>
              <a:t>1/19/2026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595002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DECC02-1725-49EE-C93B-A4C2C4049458}"/>
              </a:ext>
            </a:extLst>
          </p:cNvPr>
          <p:cNvSpPr/>
          <p:nvPr/>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9F406BC0-1562-42E5-89A2-925CA193C8A6}" type="datetime1">
              <a:rPr lang="en-US" smtClean="0"/>
              <a:t>1/19/2026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470462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7F376A-778D-45CF-8340-DB03B2DA6A3E}" type="datetime1">
              <a:rPr lang="en-US" smtClean="0"/>
              <a:t>1/19/2026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437709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B9DFF5A-622E-43FE-9EE9-BAAB78AB2046}" type="datetime1">
              <a:rPr lang="en-US" smtClean="0"/>
              <a:t>1/19/2026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047117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F55C09E-FF30-4AA0-A227-171955622259}" type="datetime1">
              <a:rPr lang="en-US" smtClean="0"/>
              <a:t>1/19/2026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851022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7B279FF-407B-4B41-9E69-DE66ED04A328}" type="datetime1">
              <a:rPr lang="en-US" smtClean="0"/>
              <a:t>1/19/2026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4689085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03E812-757D-4139-AF81-227C72D4B544}" type="datetime1">
              <a:rPr lang="en-US" smtClean="0"/>
              <a:t>1/19/2026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41238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7D6A7E1-C424-43A5-938A-12DEC0A1D59D}" type="datetime1">
              <a:rPr lang="en-US" smtClean="0"/>
              <a:t>1/19/2026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7375660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557784"/>
            <a:ext cx="6519080" cy="5779007"/>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07C4FC2-B89B-4919-A96B-662A3584681C}" type="datetime1">
              <a:rPr lang="en-US" smtClean="0"/>
              <a:t>1/19/2026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5420543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10888473" cy="1133856"/>
          </a:xfrm>
        </p:spPr>
        <p:txBody>
          <a:bodyPr anchor="b">
            <a:norm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C24BE51-D660-433D-AABA-154BE028E64E}" type="datetime1">
              <a:rPr lang="en-US" smtClean="0"/>
              <a:t>1/19/2026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36239980"/>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B61F76E-6064-4431-B5C4-29A511725BCF}" type="datetime1">
              <a:rPr lang="en-US" smtClean="0"/>
              <a:t>1/19/2026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18187876"/>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5EE9E671-1C83-40F7-9D33-FE8AAC7F721F}" type="datetime1">
              <a:rPr lang="en-US" smtClean="0"/>
              <a:t>1/19/2026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010079096"/>
      </p:ext>
    </p:extLst>
  </p:cSld>
  <p:clrMap bg1="lt1" tx1="dk1" bg2="lt2" tx2="dk2" accent1="accent1" accent2="accent2" accent3="accent3" accent4="accent4" accent5="accent5" accent6="accent6" hlink="hlink" folHlink="folHlink"/>
  <p:sldLayoutIdLst>
    <p:sldLayoutId id="2147483749" r:id="rId1"/>
    <p:sldLayoutId id="2147483748" r:id="rId2"/>
    <p:sldLayoutId id="2147483750"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 id="2147483730" r:id="rId32"/>
    <p:sldLayoutId id="2147483731" r:id="rId33"/>
    <p:sldLayoutId id="2147483732" r:id="rId34"/>
    <p:sldLayoutId id="2147483733" r:id="rId35"/>
    <p:sldLayoutId id="2147483734" r:id="rId36"/>
    <p:sldLayoutId id="2147483735" r:id="rId37"/>
    <p:sldLayoutId id="2147483736" r:id="rId38"/>
    <p:sldLayoutId id="2147483737" r:id="rId39"/>
    <p:sldLayoutId id="2147483738" r:id="rId40"/>
    <p:sldLayoutId id="2147483739" r:id="rId41"/>
    <p:sldLayoutId id="2147483740" r:id="rId42"/>
    <p:sldLayoutId id="2147483741" r:id="rId43"/>
    <p:sldLayoutId id="2147483742" r:id="rId44"/>
    <p:sldLayoutId id="2147483743" r:id="rId45"/>
    <p:sldLayoutId id="2147483744" r:id="rId46"/>
    <p:sldLayoutId id="2147483745" r:id="rId47"/>
    <p:sldLayoutId id="2147483746" r:id="rId48"/>
    <p:sldLayoutId id="2147483747" r:id="rId49"/>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2" Type="http://schemas.openxmlformats.org/officeDocument/2006/relationships/hyperlink" Target="mailto:tashacounsellinghq@gmail.com" TargetMode="Externa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hyperlink" Target="https://www.bacp.co.uk/about-us/about-bacp/" TargetMode="External"/><Relationship Id="rId2" Type="http://schemas.openxmlformats.org/officeDocument/2006/relationships/hyperlink" Target="https://www.google.com/search?q=BACP+Register&amp;sca_esv=3fdc7ed169b1e601&amp;rlz=1C1ONGR_en-GBGB933GB933&amp;sxsrf=AE3TifN6tX4-Uz_xBHZMORpcV2P9Eeq9VA%3A1766828466333&amp;ei=sqlPaYbsE_KthbIPkrecgAo&amp;ved=2ahUKEwjD1vLd3d2RAxWsRkEAHfAKEi8QgK4QegQIARAE&amp;uact=5&amp;oq=what+does+being+a+member+of+the+bacp+mean+for+counsellors+and+clients&amp;gs_lp=Egxnd3Mtd2l6LXNlcnAiRXdoYXQgZG9lcyBiZWluZyBhIG1lbWJlciBvZiB0aGUgYmFjcCBtZWFuIGZvciBjb3Vuc2VsbG9ycyBhbmQgY2xpZW50czIHECEYoAEYCjIHECEYoAEYCjIHECEYoAEYCjIHECEYoAEYCjIGECEYFRgNSOnCAVDRBVjDvAFwAngBkAECmAGIAaABuCGqAQQ1MC41uAEDyAEA-AEBmAI2oAKaI6gCCsICBxAjGLADGCfCAgoQABiwAxjWBBhHwgINEAAYgAQYsAMYQxiKBcICChAjGIAEGCcYigXCAgQQIxgnwgIKEAAYgAQYFBiHAsICBRAAGIAEwgIHECMYJxjqAsICCxAAGIAEGJECGIoFwgILEC4YgAQYsQMYgwHCAgsQABiABBixAxiDAcICERAuGIAEGLEDGNEDGIMBGMcBwgIKEAAYgAQYQxiKBcICCBAAGIAEGLEDwgIOEAAYgAQYsQMYgwEYigXCAgoQABiABBhGGPkBwgILEAAYgAQYhgMYigXCAggQABiABBiiBMICBRAAGO8FwgIIEAAYogQYiQXCAgUQIRigAcICBRAhGJ8FwgIEECEYFcICBBAhGAqYAwfxBSmoaEaL_vJ5iAYBkAYMkgcFNDMuMTGgB7WXA7IHBTQxLjExuAeAI8IHCDAuMy40NS42yAfUAoAIAA&amp;sclient=gws-wiz-serp&amp;mstk=AUtExfAUZsidXqwPsvvzJ7_NIKycy8GUhwg7MYV0fTyq1POf1PNHYSntKHtw-ib65REtDLRrEiSpAYXvgAB4MoUqSYzp5-6DpgXNkEHlCuA289rIipdoY5PTwpVVj2m9ej5k33Fsg7ai66t_bcvoDXrlwXSwS9evzkLHwjBMDSQbw9KFEUhgqKsOpHjg6h71NxzJQRpq8roVMdKUtGGDBDst2901hnxxbjXC5bgLugTmG3FWfHBY5MQ3VBZqjrGRjGeoLTJ7KcAVNpW-Y3T88UVIQ3h2kZuWbuxmN8llvtas6ttmrGBHHelkhdiI2GCBLiHFSn__eoozwNE2n0ifsu9vXZTn2RF8QzmmGorpGncHMmZY&amp;csui=3"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www.stepchange.org/?gclsrc=aw.ds&amp;gad_source=1&amp;gad_campaignid=12348298313&amp;gbraid=0AAAAAD1toAg3BJ6rpYrkpsO9dJTGMDmmf&amp;gclid=Cj0KCQiApL7KBhC7ARIsAD2Xq3Dst40xRHHDNJ9bQ5AHuHAHEZItsPnIeqw4g1rBTfzkJ8UuBEXTZKwaAuFrEALw_wcB" TargetMode="External"/><Relationship Id="rId3" Type="http://schemas.openxmlformats.org/officeDocument/2006/relationships/hyperlink" Target="https://111.nhs.uk/" TargetMode="External"/><Relationship Id="rId7" Type="http://schemas.openxmlformats.org/officeDocument/2006/relationships/hyperlink" Target="https://www.moneyhelper.org.uk/en" TargetMode="External"/><Relationship Id="rId12" Type="http://schemas.openxmlformats.org/officeDocument/2006/relationships/hyperlink" Target="https://www.turn2us.org.uk/" TargetMode="External"/><Relationship Id="rId2" Type="http://schemas.openxmlformats.org/officeDocument/2006/relationships/hyperlink" Target="tel:111" TargetMode="External"/><Relationship Id="rId1" Type="http://schemas.openxmlformats.org/officeDocument/2006/relationships/slideLayout" Target="../slideLayouts/slideLayout2.xml"/><Relationship Id="rId6" Type="http://schemas.openxmlformats.org/officeDocument/2006/relationships/hyperlink" Target="https://www.nationaldahelpline.org.uk/" TargetMode="External"/><Relationship Id="rId11" Type="http://schemas.openxmlformats.org/officeDocument/2006/relationships/hyperlink" Target="https://www.trussell.org.uk/emergency-food/find-a-foodbank" TargetMode="External"/><Relationship Id="rId5" Type="http://schemas.openxmlformats.org/officeDocument/2006/relationships/hyperlink" Target="https://giveusashout.org/" TargetMode="External"/><Relationship Id="rId10" Type="http://schemas.openxmlformats.org/officeDocument/2006/relationships/hyperlink" Target="https://www.gov.uk/cost-living-help-local-council#:~:text=You%20may%20be%20able%20to,essential%20items" TargetMode="External"/><Relationship Id="rId4" Type="http://schemas.openxmlformats.org/officeDocument/2006/relationships/hyperlink" Target="https://www.samaritans.org/" TargetMode="External"/><Relationship Id="rId9" Type="http://schemas.openxmlformats.org/officeDocument/2006/relationships/hyperlink" Target="https://www.citizensadvice.org.uk/debt-and-money/cost-of-living/get-help-with-the-cost-of-living/#:~:text=This%20help%20is%20known%20as,search%20onlin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bacp.co.uk/about-therapy/types-of-therapy/person-centred-counselling/" TargetMode="External"/><Relationship Id="rId2" Type="http://schemas.openxmlformats.org/officeDocument/2006/relationships/hyperlink" Target="https://www.bacp.co.uk/about-therapy/types-of-therapy/integrative-counselling/" TargetMode="External"/><Relationship Id="rId1" Type="http://schemas.openxmlformats.org/officeDocument/2006/relationships/slideLayout" Target="../slideLayouts/slideLayout45.xml"/><Relationship Id="rId4" Type="http://schemas.openxmlformats.org/officeDocument/2006/relationships/hyperlink" Target="https://counsellingtutor.com/trauma-informed-practice/what-is-trauma-informed-practice/"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internalfamilysystemstraining.co.uk/" TargetMode="External"/><Relationship Id="rId2" Type="http://schemas.openxmlformats.org/officeDocument/2006/relationships/hyperlink" Target="https://www.bacp.co.uk/about-therapy/types-of-therapy/cognitive-behavioural-therapy/"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bapt.info/play-therapy/" TargetMode="External"/><Relationship Id="rId2" Type="http://schemas.openxmlformats.org/officeDocument/2006/relationships/hyperlink" Target="https://ifs-institute.com/resources/articles/inner-child-work"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slideLayout" Target="../slideLayouts/slideLayout44.xml"/><Relationship Id="rId6" Type="http://schemas.openxmlformats.org/officeDocument/2006/relationships/image" Target="../media/image19.png"/><Relationship Id="rId5" Type="http://schemas.openxmlformats.org/officeDocument/2006/relationships/hyperlink" Target="https://www.bacp.co.uk/media/21201/psa-photo-frame-overlay-with-quality-mark.png" TargetMode="External"/><Relationship Id="rId4" Type="http://schemas.openxmlformats.org/officeDocument/2006/relationships/hyperlink" Target="https://www.bacp.co.uk/media/21191/psa-quality-mark-logo-for-online.p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BB791-D119-DA47-7483-31CF28B46B9F}"/>
              </a:ext>
            </a:extLst>
          </p:cNvPr>
          <p:cNvSpPr>
            <a:spLocks noGrp="1"/>
          </p:cNvSpPr>
          <p:nvPr>
            <p:ph type="ctrTitle"/>
          </p:nvPr>
        </p:nvSpPr>
        <p:spPr>
          <a:xfrm>
            <a:off x="365760" y="5218032"/>
            <a:ext cx="11460480" cy="786384"/>
          </a:xfrm>
        </p:spPr>
        <p:txBody>
          <a:bodyPr anchor="b">
            <a:normAutofit/>
          </a:bodyPr>
          <a:lstStyle/>
          <a:p>
            <a:r>
              <a:rPr lang="en-GB" dirty="0"/>
              <a:t>Counselling HQ Website Content</a:t>
            </a:r>
          </a:p>
        </p:txBody>
      </p:sp>
      <p:sp>
        <p:nvSpPr>
          <p:cNvPr id="3" name="Subtitle 2">
            <a:extLst>
              <a:ext uri="{FF2B5EF4-FFF2-40B4-BE49-F238E27FC236}">
                <a16:creationId xmlns:a16="http://schemas.microsoft.com/office/drawing/2014/main" id="{01ADB07A-C1A6-7502-EF0E-1EDA31C1E783}"/>
              </a:ext>
            </a:extLst>
          </p:cNvPr>
          <p:cNvSpPr>
            <a:spLocks noGrp="1"/>
          </p:cNvSpPr>
          <p:nvPr>
            <p:ph type="subTitle" idx="1"/>
          </p:nvPr>
        </p:nvSpPr>
        <p:spPr>
          <a:xfrm>
            <a:off x="365760" y="5972629"/>
            <a:ext cx="11460480" cy="480373"/>
          </a:xfrm>
        </p:spPr>
        <p:txBody>
          <a:bodyPr>
            <a:normAutofit/>
          </a:bodyPr>
          <a:lstStyle/>
          <a:p>
            <a:endParaRPr lang="en-GB" dirty="0"/>
          </a:p>
        </p:txBody>
      </p:sp>
      <p:sp>
        <p:nvSpPr>
          <p:cNvPr id="8" name="Picture Placeholder 3">
            <a:extLst>
              <a:ext uri="{FF2B5EF4-FFF2-40B4-BE49-F238E27FC236}">
                <a16:creationId xmlns:a16="http://schemas.microsoft.com/office/drawing/2014/main" id="{A3B16AC7-AD9D-B453-29C4-F593203F8A34}"/>
              </a:ext>
            </a:extLst>
          </p:cNvPr>
          <p:cNvSpPr>
            <a:spLocks noGrp="1"/>
          </p:cNvSpPr>
          <p:nvPr>
            <p:ph type="pic" sz="quarter" idx="13"/>
          </p:nvPr>
        </p:nvSpPr>
        <p:spPr>
          <a:xfrm>
            <a:off x="0" y="0"/>
            <a:ext cx="12191999" cy="4986425"/>
          </a:xfrm>
        </p:spPr>
        <p:txBody>
          <a:bodyPr/>
          <a:lstStyle/>
          <a:p>
            <a:endParaRPr lang="en-GB"/>
          </a:p>
        </p:txBody>
      </p:sp>
    </p:spTree>
    <p:extLst>
      <p:ext uri="{BB962C8B-B14F-4D97-AF65-F5344CB8AC3E}">
        <p14:creationId xmlns:p14="http://schemas.microsoft.com/office/powerpoint/2010/main" val="2807615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8DFB-751B-5AFF-E4EB-262ACCCD8C7B}"/>
              </a:ext>
            </a:extLst>
          </p:cNvPr>
          <p:cNvSpPr>
            <a:spLocks noGrp="1"/>
          </p:cNvSpPr>
          <p:nvPr>
            <p:ph type="title"/>
          </p:nvPr>
        </p:nvSpPr>
        <p:spPr>
          <a:xfrm>
            <a:off x="539750" y="242596"/>
            <a:ext cx="10745788" cy="1143292"/>
          </a:xfrm>
        </p:spPr>
        <p:txBody>
          <a:bodyPr>
            <a:normAutofit fontScale="90000"/>
          </a:bodyPr>
          <a:lstStyle/>
          <a:p>
            <a:r>
              <a:rPr lang="en-GB" sz="2700" dirty="0"/>
              <a:t>Welcome to Counselling HQ</a:t>
            </a:r>
            <a:br>
              <a:rPr lang="en-GB" sz="2700" dirty="0"/>
            </a:br>
            <a:r>
              <a:rPr lang="en-GB" i="1" dirty="0"/>
              <a:t>Specialist Counselling &amp; Psychotherapy for Children &amp; Adults</a:t>
            </a:r>
            <a:br>
              <a:rPr lang="en-GB" dirty="0"/>
            </a:br>
            <a:br>
              <a:rPr lang="en-GB" dirty="0"/>
            </a:br>
            <a:r>
              <a:rPr lang="en-GB" sz="2700" dirty="0"/>
              <a:t>Natasha Hilton-Quick </a:t>
            </a:r>
            <a:r>
              <a:rPr lang="en-GB" sz="2700" b="0" dirty="0"/>
              <a:t>Integrative. </a:t>
            </a:r>
            <a:r>
              <a:rPr lang="en-GB" sz="2700" b="0" dirty="0" err="1"/>
              <a:t>Dip.Couns</a:t>
            </a:r>
            <a:r>
              <a:rPr lang="en-GB" sz="2700" b="0" dirty="0"/>
              <a:t>, MBACP</a:t>
            </a:r>
            <a:br>
              <a:rPr lang="en-GB" sz="2700" b="0" dirty="0"/>
            </a:br>
            <a:r>
              <a:rPr lang="en-GB" sz="2800" dirty="0"/>
              <a:t>A safe space to feel heard and understood</a:t>
            </a:r>
            <a:br>
              <a:rPr lang="en-GB" sz="2700" b="0" dirty="0"/>
            </a:br>
            <a:endParaRPr lang="en-GB" sz="2200" dirty="0"/>
          </a:p>
        </p:txBody>
      </p:sp>
      <p:sp>
        <p:nvSpPr>
          <p:cNvPr id="6" name="Text Placeholder 5">
            <a:extLst>
              <a:ext uri="{FF2B5EF4-FFF2-40B4-BE49-F238E27FC236}">
                <a16:creationId xmlns:a16="http://schemas.microsoft.com/office/drawing/2014/main" id="{67E43352-2825-5FA3-42CD-AF830263DC3D}"/>
              </a:ext>
            </a:extLst>
          </p:cNvPr>
          <p:cNvSpPr>
            <a:spLocks noGrp="1"/>
          </p:cNvSpPr>
          <p:nvPr>
            <p:ph type="body" sz="quarter" idx="13"/>
          </p:nvPr>
        </p:nvSpPr>
        <p:spPr>
          <a:xfrm>
            <a:off x="539750" y="2292350"/>
            <a:ext cx="5994400" cy="3763963"/>
          </a:xfrm>
        </p:spPr>
        <p:txBody>
          <a:bodyPr>
            <a:normAutofit fontScale="25000" lnSpcReduction="20000"/>
          </a:bodyPr>
          <a:lstStyle/>
          <a:p>
            <a:r>
              <a:rPr lang="en-GB" sz="5600" dirty="0"/>
              <a:t>Whether you’re seeking support for yourself, your child, or a loved one, you’re in the right place.</a:t>
            </a:r>
          </a:p>
          <a:p>
            <a:r>
              <a:rPr lang="en-GB" sz="5600" dirty="0"/>
              <a:t>If life feels harder than it should, or you’re not feeling yourself, counselling can help.</a:t>
            </a:r>
          </a:p>
          <a:p>
            <a:r>
              <a:rPr lang="en-GB" sz="5600" dirty="0"/>
              <a:t>You might be feeling low,  disconnected, overwhelmed, or self-critical and not yourself.</a:t>
            </a:r>
          </a:p>
          <a:p>
            <a:r>
              <a:rPr lang="en-GB" sz="5600" dirty="0"/>
              <a:t> Maybe there’s been a significant event, your energy has dipped, or the things that once brought enjoyment no longer feel the same.</a:t>
            </a:r>
          </a:p>
          <a:p>
            <a:r>
              <a:rPr lang="en-GB" sz="5600" dirty="0"/>
              <a:t>At Counselling HQ, you don’t need to have the answers before reaching out. This is a calm and confidential space to discuss things, feel understood, and move forward at your own pace. Where your experiences are taken seriously, and your voice is valued.</a:t>
            </a:r>
          </a:p>
          <a:p>
            <a:r>
              <a:rPr lang="en-GB" sz="5600" dirty="0"/>
              <a:t>You’re welcome here — exactly as you are.</a:t>
            </a:r>
          </a:p>
          <a:p>
            <a:endParaRPr lang="en-GB" dirty="0"/>
          </a:p>
        </p:txBody>
      </p:sp>
      <p:sp>
        <p:nvSpPr>
          <p:cNvPr id="5" name="Text Placeholder 4">
            <a:extLst>
              <a:ext uri="{FF2B5EF4-FFF2-40B4-BE49-F238E27FC236}">
                <a16:creationId xmlns:a16="http://schemas.microsoft.com/office/drawing/2014/main" id="{2FFD2F77-6DCD-FF15-2E5F-2D727C26D64A}"/>
              </a:ext>
            </a:extLst>
          </p:cNvPr>
          <p:cNvSpPr>
            <a:spLocks noGrp="1"/>
          </p:cNvSpPr>
          <p:nvPr>
            <p:ph type="body" sz="quarter" idx="3"/>
          </p:nvPr>
        </p:nvSpPr>
        <p:spPr>
          <a:xfrm>
            <a:off x="7376160" y="1053737"/>
            <a:ext cx="4550728" cy="1569330"/>
          </a:xfrm>
        </p:spPr>
        <p:txBody>
          <a:bodyPr>
            <a:normAutofit/>
          </a:bodyPr>
          <a:lstStyle/>
          <a:p>
            <a:r>
              <a:rPr lang="en-GB" sz="1200" dirty="0"/>
              <a:t>Face-to-face and online therapy for adults, young people &amp; children</a:t>
            </a:r>
          </a:p>
        </p:txBody>
      </p:sp>
      <p:sp>
        <p:nvSpPr>
          <p:cNvPr id="7" name="Text Placeholder 6">
            <a:extLst>
              <a:ext uri="{FF2B5EF4-FFF2-40B4-BE49-F238E27FC236}">
                <a16:creationId xmlns:a16="http://schemas.microsoft.com/office/drawing/2014/main" id="{6C550294-0171-85EA-A3F8-36F8E137FA9A}"/>
              </a:ext>
            </a:extLst>
          </p:cNvPr>
          <p:cNvSpPr>
            <a:spLocks noGrp="1"/>
          </p:cNvSpPr>
          <p:nvPr>
            <p:ph type="body" sz="quarter" idx="14"/>
          </p:nvPr>
        </p:nvSpPr>
        <p:spPr>
          <a:xfrm>
            <a:off x="6743700" y="2851441"/>
            <a:ext cx="5183188" cy="3763963"/>
          </a:xfrm>
        </p:spPr>
        <p:txBody>
          <a:bodyPr>
            <a:normAutofit/>
          </a:bodyPr>
          <a:lstStyle/>
          <a:p>
            <a:r>
              <a:rPr lang="en-GB" b="1" dirty="0">
                <a:solidFill>
                  <a:srgbClr val="FF0000"/>
                </a:solidFill>
              </a:rPr>
              <a:t>Get in touch via email link buttons</a:t>
            </a:r>
            <a:endParaRPr lang="en-GB" dirty="0">
              <a:solidFill>
                <a:srgbClr val="FF0000"/>
              </a:solidFill>
            </a:endParaRPr>
          </a:p>
          <a:p>
            <a:endParaRPr lang="en-GB" dirty="0"/>
          </a:p>
        </p:txBody>
      </p:sp>
      <p:pic>
        <p:nvPicPr>
          <p:cNvPr id="8" name="Picture 7">
            <a:extLst>
              <a:ext uri="{FF2B5EF4-FFF2-40B4-BE49-F238E27FC236}">
                <a16:creationId xmlns:a16="http://schemas.microsoft.com/office/drawing/2014/main" id="{17F4FC9F-A3EB-9A79-B187-75EA8C82C954}"/>
              </a:ext>
            </a:extLst>
          </p:cNvPr>
          <p:cNvPicPr>
            <a:picLocks noChangeAspect="1"/>
          </p:cNvPicPr>
          <p:nvPr/>
        </p:nvPicPr>
        <p:blipFill>
          <a:blip r:embed="rId2"/>
          <a:stretch>
            <a:fillRect/>
          </a:stretch>
        </p:blipFill>
        <p:spPr>
          <a:xfrm>
            <a:off x="7876897" y="3753394"/>
            <a:ext cx="2835510" cy="2862010"/>
          </a:xfrm>
          <a:prstGeom prst="rect">
            <a:avLst/>
          </a:prstGeom>
        </p:spPr>
      </p:pic>
      <p:sp>
        <p:nvSpPr>
          <p:cNvPr id="9" name="TextBox 8">
            <a:extLst>
              <a:ext uri="{FF2B5EF4-FFF2-40B4-BE49-F238E27FC236}">
                <a16:creationId xmlns:a16="http://schemas.microsoft.com/office/drawing/2014/main" id="{7BEF2096-8278-7FD6-9AA4-F46D85B80D6A}"/>
              </a:ext>
            </a:extLst>
          </p:cNvPr>
          <p:cNvSpPr txBox="1"/>
          <p:nvPr/>
        </p:nvSpPr>
        <p:spPr>
          <a:xfrm>
            <a:off x="10458994" y="3614057"/>
            <a:ext cx="1193256" cy="2308324"/>
          </a:xfrm>
          <a:prstGeom prst="rect">
            <a:avLst/>
          </a:prstGeom>
          <a:noFill/>
        </p:spPr>
        <p:txBody>
          <a:bodyPr wrap="square" rtlCol="0">
            <a:spAutoFit/>
          </a:bodyPr>
          <a:lstStyle/>
          <a:p>
            <a:r>
              <a:rPr lang="en-GB" dirty="0"/>
              <a:t>This is as far as I have got with my logo. Not sure about font</a:t>
            </a:r>
          </a:p>
        </p:txBody>
      </p:sp>
    </p:spTree>
    <p:extLst>
      <p:ext uri="{BB962C8B-B14F-4D97-AF65-F5344CB8AC3E}">
        <p14:creationId xmlns:p14="http://schemas.microsoft.com/office/powerpoint/2010/main" val="2479609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8B47B-DA1F-D19C-C33D-8BB7DADD845B}"/>
              </a:ext>
            </a:extLst>
          </p:cNvPr>
          <p:cNvSpPr>
            <a:spLocks noGrp="1"/>
          </p:cNvSpPr>
          <p:nvPr>
            <p:ph type="title"/>
          </p:nvPr>
        </p:nvSpPr>
        <p:spPr>
          <a:xfrm>
            <a:off x="725424" y="0"/>
            <a:ext cx="10741152" cy="1132258"/>
          </a:xfrm>
        </p:spPr>
        <p:txBody>
          <a:bodyPr anchor="b">
            <a:normAutofit/>
          </a:bodyPr>
          <a:lstStyle/>
          <a:p>
            <a:r>
              <a:rPr lang="en-GB" dirty="0"/>
              <a:t>Meet Natasha</a:t>
            </a:r>
          </a:p>
        </p:txBody>
      </p:sp>
      <p:sp>
        <p:nvSpPr>
          <p:cNvPr id="4" name="Text Placeholder 3">
            <a:extLst>
              <a:ext uri="{FF2B5EF4-FFF2-40B4-BE49-F238E27FC236}">
                <a16:creationId xmlns:a16="http://schemas.microsoft.com/office/drawing/2014/main" id="{5D8001B0-94DE-E178-25C7-1FFCDBA6E826}"/>
              </a:ext>
            </a:extLst>
          </p:cNvPr>
          <p:cNvSpPr>
            <a:spLocks noGrp="1"/>
          </p:cNvSpPr>
          <p:nvPr>
            <p:ph type="body" sz="quarter" idx="13"/>
          </p:nvPr>
        </p:nvSpPr>
        <p:spPr>
          <a:xfrm>
            <a:off x="415925" y="1335087"/>
            <a:ext cx="5181600" cy="4351338"/>
          </a:xfrm>
        </p:spPr>
        <p:txBody>
          <a:bodyPr>
            <a:normAutofit fontScale="55000" lnSpcReduction="20000"/>
          </a:bodyPr>
          <a:lstStyle/>
          <a:p>
            <a:r>
              <a:rPr lang="en-GB" dirty="0"/>
              <a:t>Hello, I’m Natasha — though most people call me Tasha.</a:t>
            </a:r>
          </a:p>
          <a:p>
            <a:r>
              <a:rPr lang="en-GB" dirty="0"/>
              <a:t>Before training as a counsellor, I spent 24 years as a teacher, working in both private and public schools across Southeast Kent. </a:t>
            </a:r>
          </a:p>
          <a:p>
            <a:r>
              <a:rPr lang="en-GB" dirty="0"/>
              <a:t>During that time, I supported children and young people aged 5–18 through academic pressure, emotional challenges, and major life changes.</a:t>
            </a:r>
          </a:p>
          <a:p>
            <a:r>
              <a:rPr lang="en-GB" dirty="0"/>
              <a:t>I became a counsellor because I understand how it feels to be overwhelmed, dissatisfied, or unsure where to turn…even when everything looks fine on the outside. That lived experience strongly shapes how I work today.</a:t>
            </a:r>
          </a:p>
          <a:p>
            <a:r>
              <a:rPr lang="en-GB" dirty="0"/>
              <a:t>I now work in schools and have a private practice working with children and adults, in short and long-term therapy.</a:t>
            </a:r>
          </a:p>
          <a:p>
            <a:r>
              <a:rPr lang="en-GB" dirty="0"/>
              <a:t>I deeply believe in the quiet power of being truly listened to. Therapy doesn’t have to be about being “fixed”. Sometimes it’s about having someone alongside you, helping you slow down, make sense of what’s happening, and reconnect with your own inner resources.</a:t>
            </a:r>
          </a:p>
          <a:p>
            <a:pPr marL="0" indent="0">
              <a:buNone/>
            </a:pPr>
            <a:br>
              <a:rPr lang="en-GB" dirty="0"/>
            </a:br>
            <a:endParaRPr lang="en-GB" dirty="0"/>
          </a:p>
        </p:txBody>
      </p:sp>
      <p:pic>
        <p:nvPicPr>
          <p:cNvPr id="7" name="Picture 6">
            <a:extLst>
              <a:ext uri="{FF2B5EF4-FFF2-40B4-BE49-F238E27FC236}">
                <a16:creationId xmlns:a16="http://schemas.microsoft.com/office/drawing/2014/main" id="{8BFBFE3C-8958-E33C-648B-C52715B8F6E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931" y="5173346"/>
            <a:ext cx="2785919" cy="1244188"/>
          </a:xfrm>
          <a:prstGeom prst="rect">
            <a:avLst/>
          </a:prstGeom>
          <a:noFill/>
          <a:ln>
            <a:noFill/>
          </a:ln>
        </p:spPr>
      </p:pic>
      <p:sp>
        <p:nvSpPr>
          <p:cNvPr id="3" name="TextBox 2">
            <a:extLst>
              <a:ext uri="{FF2B5EF4-FFF2-40B4-BE49-F238E27FC236}">
                <a16:creationId xmlns:a16="http://schemas.microsoft.com/office/drawing/2014/main" id="{3FA752B2-7062-E468-1CC3-F4E13E3BEA38}"/>
              </a:ext>
            </a:extLst>
          </p:cNvPr>
          <p:cNvSpPr txBox="1"/>
          <p:nvPr/>
        </p:nvSpPr>
        <p:spPr>
          <a:xfrm>
            <a:off x="9148354" y="496278"/>
            <a:ext cx="1942011" cy="369332"/>
          </a:xfrm>
          <a:prstGeom prst="rect">
            <a:avLst/>
          </a:prstGeom>
          <a:noFill/>
        </p:spPr>
        <p:txBody>
          <a:bodyPr wrap="square" rtlCol="0">
            <a:spAutoFit/>
          </a:bodyPr>
          <a:lstStyle/>
          <a:p>
            <a:r>
              <a:rPr lang="en-GB" dirty="0"/>
              <a:t>Possibly video</a:t>
            </a:r>
          </a:p>
        </p:txBody>
      </p:sp>
      <p:pic>
        <p:nvPicPr>
          <p:cNvPr id="8" name="Picture 7">
            <a:extLst>
              <a:ext uri="{FF2B5EF4-FFF2-40B4-BE49-F238E27FC236}">
                <a16:creationId xmlns:a16="http://schemas.microsoft.com/office/drawing/2014/main" id="{E7B96E6E-79B1-96BF-D813-60E4908446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2310" y="1915886"/>
            <a:ext cx="1985818" cy="2978727"/>
          </a:xfrm>
          <a:prstGeom prst="rect">
            <a:avLst/>
          </a:prstGeom>
        </p:spPr>
      </p:pic>
    </p:spTree>
    <p:extLst>
      <p:ext uri="{BB962C8B-B14F-4D97-AF65-F5344CB8AC3E}">
        <p14:creationId xmlns:p14="http://schemas.microsoft.com/office/powerpoint/2010/main" val="881693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E078D-3FFA-B11E-7C96-5DBBEDAA6568}"/>
              </a:ext>
            </a:extLst>
          </p:cNvPr>
          <p:cNvSpPr>
            <a:spLocks noGrp="1"/>
          </p:cNvSpPr>
          <p:nvPr>
            <p:ph type="title"/>
          </p:nvPr>
        </p:nvSpPr>
        <p:spPr/>
        <p:txBody>
          <a:bodyPr/>
          <a:lstStyle/>
          <a:p>
            <a:r>
              <a:rPr lang="en-GB" dirty="0"/>
              <a:t>Professional background</a:t>
            </a:r>
            <a:br>
              <a:rPr lang="en-GB" dirty="0"/>
            </a:br>
            <a:endParaRPr lang="en-GB" dirty="0"/>
          </a:p>
        </p:txBody>
      </p:sp>
      <p:sp>
        <p:nvSpPr>
          <p:cNvPr id="3" name="Content Placeholder 2">
            <a:extLst>
              <a:ext uri="{FF2B5EF4-FFF2-40B4-BE49-F238E27FC236}">
                <a16:creationId xmlns:a16="http://schemas.microsoft.com/office/drawing/2014/main" id="{D1E0023E-24F4-6859-A7F0-2E6A0485B468}"/>
              </a:ext>
            </a:extLst>
          </p:cNvPr>
          <p:cNvSpPr>
            <a:spLocks noGrp="1"/>
          </p:cNvSpPr>
          <p:nvPr>
            <p:ph idx="1"/>
          </p:nvPr>
        </p:nvSpPr>
        <p:spPr/>
        <p:txBody>
          <a:bodyPr>
            <a:normAutofit/>
          </a:bodyPr>
          <a:lstStyle/>
          <a:p>
            <a:r>
              <a:rPr lang="en-GB" sz="1400" dirty="0"/>
              <a:t>Completed Levels 2, 3 &amp; 4 - Diplomas in Therapeutic Counselling CPCAB (Counselling and Psychotherapy Central Awarding Body)</a:t>
            </a:r>
          </a:p>
          <a:p>
            <a:r>
              <a:rPr lang="en-GB" sz="1400" dirty="0"/>
              <a:t>Currently completing Level 5 Diploma in Psychotherapeutic Counselling (CPCAB) - July 2026</a:t>
            </a:r>
          </a:p>
          <a:p>
            <a:r>
              <a:rPr lang="en-GB" sz="1400" dirty="0"/>
              <a:t>Registered Member of the BACP (British Association for Counselling and Psychotherapy)</a:t>
            </a:r>
          </a:p>
          <a:p>
            <a:r>
              <a:rPr lang="en-GB" sz="1400" dirty="0"/>
              <a:t>Enhanced DBS Certificate</a:t>
            </a:r>
          </a:p>
          <a:p>
            <a:r>
              <a:rPr lang="en-GB" sz="1400" dirty="0"/>
              <a:t>Full professional indemnity insurance</a:t>
            </a:r>
          </a:p>
          <a:p>
            <a:r>
              <a:rPr lang="en-GB" sz="1400" dirty="0"/>
              <a:t>Extensive experience supporting neurodivergent children and adults, including autism, ADHD, sensory differences and emotional regulation challenges.</a:t>
            </a:r>
          </a:p>
          <a:p>
            <a:r>
              <a:rPr lang="en-GB" sz="1400" dirty="0"/>
              <a:t>I work ethically, safely, and with your well-being at the centre of everything I do.</a:t>
            </a:r>
          </a:p>
          <a:p>
            <a:pPr marL="0" indent="0">
              <a:buNone/>
            </a:pPr>
            <a:endParaRPr lang="en-GB" dirty="0"/>
          </a:p>
        </p:txBody>
      </p:sp>
    </p:spTree>
    <p:extLst>
      <p:ext uri="{BB962C8B-B14F-4D97-AF65-F5344CB8AC3E}">
        <p14:creationId xmlns:p14="http://schemas.microsoft.com/office/powerpoint/2010/main" val="977003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FF607-0321-566B-53D4-90A58060472B}"/>
              </a:ext>
            </a:extLst>
          </p:cNvPr>
          <p:cNvSpPr>
            <a:spLocks noGrp="1"/>
          </p:cNvSpPr>
          <p:nvPr>
            <p:ph type="title"/>
          </p:nvPr>
        </p:nvSpPr>
        <p:spPr>
          <a:xfrm>
            <a:off x="276097" y="-118110"/>
            <a:ext cx="6858000" cy="932688"/>
          </a:xfrm>
        </p:spPr>
        <p:txBody>
          <a:bodyPr anchor="b">
            <a:normAutofit/>
          </a:bodyPr>
          <a:lstStyle/>
          <a:p>
            <a:r>
              <a:rPr lang="en-GB" dirty="0"/>
              <a:t>My Therapeutic Approach</a:t>
            </a:r>
          </a:p>
        </p:txBody>
      </p:sp>
      <p:sp>
        <p:nvSpPr>
          <p:cNvPr id="3" name="Content Placeholder 2">
            <a:extLst>
              <a:ext uri="{FF2B5EF4-FFF2-40B4-BE49-F238E27FC236}">
                <a16:creationId xmlns:a16="http://schemas.microsoft.com/office/drawing/2014/main" id="{040A6E1E-4F2C-6275-9B0C-79EA5B7EEE36}"/>
              </a:ext>
            </a:extLst>
          </p:cNvPr>
          <p:cNvSpPr>
            <a:spLocks noGrp="1"/>
          </p:cNvSpPr>
          <p:nvPr>
            <p:ph sz="quarter" idx="14"/>
          </p:nvPr>
        </p:nvSpPr>
        <p:spPr>
          <a:xfrm>
            <a:off x="587246" y="814578"/>
            <a:ext cx="11534904" cy="5102098"/>
          </a:xfrm>
        </p:spPr>
        <p:txBody>
          <a:bodyPr>
            <a:noAutofit/>
          </a:bodyPr>
          <a:lstStyle/>
          <a:p>
            <a:pPr marL="0" indent="0">
              <a:lnSpc>
                <a:spcPct val="110000"/>
              </a:lnSpc>
              <a:buNone/>
            </a:pPr>
            <a:r>
              <a:rPr lang="en-GB" sz="1100" b="1" dirty="0"/>
              <a:t>My approach is integrative, holistic and person-centred.</a:t>
            </a:r>
          </a:p>
          <a:p>
            <a:pPr marL="0" indent="0">
              <a:buNone/>
            </a:pPr>
            <a:r>
              <a:rPr lang="en-GB" sz="1100" dirty="0"/>
              <a:t>This means I don’t try to fit you into one model of therapy. I work with you as a whole person, tailoring therapy to your unique experiences and needs.</a:t>
            </a:r>
          </a:p>
          <a:p>
            <a:pPr marL="0" indent="0">
              <a:lnSpc>
                <a:spcPct val="110000"/>
              </a:lnSpc>
              <a:buNone/>
            </a:pPr>
            <a:r>
              <a:rPr lang="en-GB" sz="1100" dirty="0"/>
              <a:t>I see you as the expert in your own life. My role is to offer a supportive, thoughtful space where we can explore your experiences together in a way that feels safe and manageable.</a:t>
            </a:r>
          </a:p>
          <a:p>
            <a:pPr marL="0" indent="0">
              <a:buNone/>
            </a:pPr>
            <a:r>
              <a:rPr lang="en-GB" sz="1100" dirty="0"/>
              <a:t>Depending on your needs, I may draw on different integrative models such as CBT tools, inner-child work, play therapy, creative, reflective or expressive methods.</a:t>
            </a:r>
          </a:p>
          <a:p>
            <a:pPr marL="0" indent="0">
              <a:buNone/>
            </a:pPr>
            <a:r>
              <a:rPr lang="en-GB" sz="1100" dirty="0"/>
              <a:t>As a trauma-informed, strengths-based practitioner, I believe that growth and change are possible when people feel safe, understood, and accepted. Therapy can help you build trust in yourself, understand old patterns, and feel more grounded and connected in your life.</a:t>
            </a:r>
          </a:p>
          <a:p>
            <a:pPr marL="0" indent="0">
              <a:lnSpc>
                <a:spcPct val="110000"/>
              </a:lnSpc>
              <a:buNone/>
            </a:pPr>
            <a:endParaRPr lang="en-GB" sz="1000" dirty="0"/>
          </a:p>
          <a:p>
            <a:pPr marL="0" indent="0">
              <a:lnSpc>
                <a:spcPct val="110000"/>
              </a:lnSpc>
              <a:buNone/>
            </a:pPr>
            <a:r>
              <a:rPr lang="en-GB" sz="1000" dirty="0"/>
              <a:t>These approaches are used collaboratively and gently, always at your pace.</a:t>
            </a:r>
          </a:p>
          <a:p>
            <a:pPr marL="0" indent="0">
              <a:lnSpc>
                <a:spcPct val="110000"/>
              </a:lnSpc>
              <a:buNone/>
            </a:pPr>
            <a:r>
              <a:rPr lang="en-GB" sz="1100" dirty="0"/>
              <a:t>As a trauma-informed, strengths-based practitioner, I believe that growth and change are possible when people feel safe, understood, and accepted. Therapy can help you build trust in yourself, understand old patterns, and feel more grounded and connected in your life.</a:t>
            </a:r>
          </a:p>
        </p:txBody>
      </p:sp>
    </p:spTree>
    <p:extLst>
      <p:ext uri="{BB962C8B-B14F-4D97-AF65-F5344CB8AC3E}">
        <p14:creationId xmlns:p14="http://schemas.microsoft.com/office/powerpoint/2010/main" val="1438575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0E79A-7548-AC22-93C4-14B4633E6EA6}"/>
              </a:ext>
            </a:extLst>
          </p:cNvPr>
          <p:cNvSpPr>
            <a:spLocks noGrp="1"/>
          </p:cNvSpPr>
          <p:nvPr>
            <p:ph type="title"/>
          </p:nvPr>
        </p:nvSpPr>
        <p:spPr>
          <a:xfrm>
            <a:off x="1513178" y="-137160"/>
            <a:ext cx="6858000" cy="932688"/>
          </a:xfrm>
        </p:spPr>
        <p:txBody>
          <a:bodyPr anchor="b">
            <a:normAutofit/>
          </a:bodyPr>
          <a:lstStyle/>
          <a:p>
            <a:r>
              <a:rPr lang="en-GB" sz="2800" dirty="0"/>
              <a:t>Counselling for Adults &amp; Young People</a:t>
            </a:r>
          </a:p>
        </p:txBody>
      </p:sp>
      <p:sp>
        <p:nvSpPr>
          <p:cNvPr id="3" name="Content Placeholder 2">
            <a:extLst>
              <a:ext uri="{FF2B5EF4-FFF2-40B4-BE49-F238E27FC236}">
                <a16:creationId xmlns:a16="http://schemas.microsoft.com/office/drawing/2014/main" id="{81FBC4D0-7372-4A8E-04DC-0FC929092BC6}"/>
              </a:ext>
            </a:extLst>
          </p:cNvPr>
          <p:cNvSpPr>
            <a:spLocks noGrp="1"/>
          </p:cNvSpPr>
          <p:nvPr>
            <p:ph sz="quarter" idx="14"/>
          </p:nvPr>
        </p:nvSpPr>
        <p:spPr>
          <a:xfrm>
            <a:off x="1773237" y="795528"/>
            <a:ext cx="7351014" cy="4983480"/>
          </a:xfrm>
        </p:spPr>
        <p:txBody>
          <a:bodyPr>
            <a:normAutofit fontScale="47500" lnSpcReduction="20000"/>
          </a:bodyPr>
          <a:lstStyle/>
          <a:p>
            <a:pPr marL="0" indent="0">
              <a:lnSpc>
                <a:spcPct val="110000"/>
              </a:lnSpc>
              <a:buNone/>
            </a:pPr>
            <a:r>
              <a:rPr lang="en-GB" sz="2400" dirty="0"/>
              <a:t>Life can feel heavy at times. You may be coping on the outside while struggling underneath, or facing a clear challenge such as grief, anxiety, relationship breakdown, or a major life transition.</a:t>
            </a:r>
          </a:p>
          <a:p>
            <a:pPr marL="0" indent="0">
              <a:lnSpc>
                <a:spcPct val="110000"/>
              </a:lnSpc>
              <a:buNone/>
            </a:pPr>
            <a:r>
              <a:rPr lang="en-GB" sz="2400" dirty="0"/>
              <a:t>In our sessions, I am fully present with you. We will explore what’s happening — both on the surface and beneath it, with care and compassion.</a:t>
            </a:r>
          </a:p>
          <a:p>
            <a:pPr marL="0" indent="0">
              <a:lnSpc>
                <a:spcPct val="110000"/>
              </a:lnSpc>
              <a:buNone/>
            </a:pPr>
            <a:r>
              <a:rPr lang="en-GB" sz="2400" dirty="0"/>
              <a:t>I support adults </a:t>
            </a:r>
            <a:r>
              <a:rPr lang="en-GB" sz="2400" dirty="0">
                <a:solidFill>
                  <a:srgbClr val="00B0F0"/>
                </a:solidFill>
              </a:rPr>
              <a:t>(male, female, non-binary) </a:t>
            </a:r>
            <a:r>
              <a:rPr lang="en-GB" sz="2400" dirty="0"/>
              <a:t>and young people with:</a:t>
            </a:r>
          </a:p>
          <a:p>
            <a:pPr marL="0" indent="0">
              <a:lnSpc>
                <a:spcPct val="110000"/>
              </a:lnSpc>
              <a:buNone/>
            </a:pPr>
            <a:endParaRPr lang="en-GB" sz="2400" dirty="0"/>
          </a:p>
          <a:p>
            <a:pPr>
              <a:lnSpc>
                <a:spcPct val="110000"/>
              </a:lnSpc>
            </a:pPr>
            <a:r>
              <a:rPr lang="en-GB" sz="2400" dirty="0"/>
              <a:t>Anxiety, depression, stress, and burnout</a:t>
            </a:r>
          </a:p>
          <a:p>
            <a:pPr>
              <a:lnSpc>
                <a:spcPct val="110000"/>
              </a:lnSpc>
            </a:pPr>
            <a:r>
              <a:rPr lang="en-GB" sz="2400" dirty="0"/>
              <a:t>Grief and bereavement</a:t>
            </a:r>
          </a:p>
          <a:p>
            <a:pPr>
              <a:lnSpc>
                <a:spcPct val="110000"/>
              </a:lnSpc>
            </a:pPr>
            <a:r>
              <a:rPr lang="en-GB" sz="2400" dirty="0"/>
              <a:t>Divorce and relationship difficulties</a:t>
            </a:r>
          </a:p>
          <a:p>
            <a:pPr>
              <a:lnSpc>
                <a:spcPct val="110000"/>
              </a:lnSpc>
            </a:pPr>
            <a:r>
              <a:rPr lang="en-GB" sz="2400" dirty="0"/>
              <a:t>Low self-esteem, co-dependency, people-pleasing</a:t>
            </a:r>
          </a:p>
          <a:p>
            <a:pPr>
              <a:lnSpc>
                <a:spcPct val="110000"/>
              </a:lnSpc>
            </a:pPr>
            <a:r>
              <a:rPr lang="en-GB" sz="2400" dirty="0"/>
              <a:t>Communication challenges</a:t>
            </a:r>
          </a:p>
          <a:p>
            <a:pPr>
              <a:lnSpc>
                <a:spcPct val="110000"/>
              </a:lnSpc>
            </a:pPr>
            <a:r>
              <a:rPr lang="en-GB" sz="2400" dirty="0"/>
              <a:t>Peri-menopause and identity shifts</a:t>
            </a:r>
          </a:p>
          <a:p>
            <a:pPr>
              <a:lnSpc>
                <a:spcPct val="110000"/>
              </a:lnSpc>
            </a:pPr>
            <a:r>
              <a:rPr lang="en-GB" sz="2400" dirty="0"/>
              <a:t>Neurodiversity and emotional or sensory overwhelm</a:t>
            </a:r>
          </a:p>
          <a:p>
            <a:pPr>
              <a:lnSpc>
                <a:spcPct val="110000"/>
              </a:lnSpc>
            </a:pPr>
            <a:r>
              <a:rPr lang="en-GB" sz="2400" dirty="0"/>
              <a:t>Unhelpful patterns such as avoidance, overthinking, or perfectionism</a:t>
            </a:r>
          </a:p>
          <a:p>
            <a:pPr marL="0" indent="0">
              <a:lnSpc>
                <a:spcPct val="110000"/>
              </a:lnSpc>
              <a:buNone/>
            </a:pPr>
            <a:r>
              <a:rPr lang="en-GB" sz="2400" dirty="0"/>
              <a:t>I am committed to offering an inclusive, affirming and culturally sensitive counselling space, where LGBTQIA+ identities are respected and where people of all backgrounds, cultures, abilities and lived experiences are welcomed.</a:t>
            </a:r>
          </a:p>
          <a:p>
            <a:pPr marL="0" indent="0">
              <a:lnSpc>
                <a:spcPct val="110000"/>
              </a:lnSpc>
              <a:buNone/>
            </a:pPr>
            <a:r>
              <a:rPr lang="en-GB" sz="2400" dirty="0"/>
              <a:t>If what you’re experiencing isn’t listed, you’re welcome to book a free 15-minute call to talk it through. If I’m not the right fit, I can help signpost you to appropriate support.</a:t>
            </a:r>
          </a:p>
          <a:p>
            <a:pPr marL="0" indent="0">
              <a:lnSpc>
                <a:spcPct val="110000"/>
              </a:lnSpc>
              <a:buNone/>
            </a:pPr>
            <a:r>
              <a:rPr lang="en-GB" sz="1400" b="1" dirty="0">
                <a:solidFill>
                  <a:srgbClr val="FF0000"/>
                </a:solidFill>
              </a:rPr>
              <a:t>GET IN TOUCH BUTTON</a:t>
            </a:r>
            <a:endParaRPr lang="en-GB" sz="1300" b="1" dirty="0">
              <a:solidFill>
                <a:srgbClr val="FF0000"/>
              </a:solidFill>
            </a:endParaRPr>
          </a:p>
        </p:txBody>
      </p:sp>
    </p:spTree>
    <p:extLst>
      <p:ext uri="{BB962C8B-B14F-4D97-AF65-F5344CB8AC3E}">
        <p14:creationId xmlns:p14="http://schemas.microsoft.com/office/powerpoint/2010/main" val="4271615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E7D5D-2EA5-5F67-7DC3-9C24B78C882B}"/>
              </a:ext>
            </a:extLst>
          </p:cNvPr>
          <p:cNvSpPr>
            <a:spLocks noGrp="1"/>
          </p:cNvSpPr>
          <p:nvPr>
            <p:ph type="title"/>
          </p:nvPr>
        </p:nvSpPr>
        <p:spPr>
          <a:xfrm>
            <a:off x="568197" y="27432"/>
            <a:ext cx="6858000" cy="932688"/>
          </a:xfrm>
        </p:spPr>
        <p:txBody>
          <a:bodyPr anchor="b">
            <a:normAutofit/>
          </a:bodyPr>
          <a:lstStyle/>
          <a:p>
            <a:r>
              <a:rPr lang="en-GB" dirty="0"/>
              <a:t>Counselling for Children</a:t>
            </a:r>
          </a:p>
        </p:txBody>
      </p:sp>
      <p:sp>
        <p:nvSpPr>
          <p:cNvPr id="3" name="Content Placeholder 2">
            <a:extLst>
              <a:ext uri="{FF2B5EF4-FFF2-40B4-BE49-F238E27FC236}">
                <a16:creationId xmlns:a16="http://schemas.microsoft.com/office/drawing/2014/main" id="{8766E19D-61FF-41A5-11D4-2DE68552A851}"/>
              </a:ext>
            </a:extLst>
          </p:cNvPr>
          <p:cNvSpPr>
            <a:spLocks noGrp="1"/>
          </p:cNvSpPr>
          <p:nvPr>
            <p:ph sz="quarter" idx="14"/>
          </p:nvPr>
        </p:nvSpPr>
        <p:spPr>
          <a:xfrm>
            <a:off x="568197" y="960120"/>
            <a:ext cx="6858000" cy="4983480"/>
          </a:xfrm>
        </p:spPr>
        <p:txBody>
          <a:bodyPr>
            <a:normAutofit lnSpcReduction="10000"/>
          </a:bodyPr>
          <a:lstStyle/>
          <a:p>
            <a:pPr marL="0" indent="0">
              <a:lnSpc>
                <a:spcPct val="110000"/>
              </a:lnSpc>
              <a:buNone/>
            </a:pPr>
            <a:r>
              <a:rPr lang="en-GB" sz="1100" dirty="0"/>
              <a:t>Children experience big feelings just as deeply as adults, often without the words to explain them.</a:t>
            </a:r>
          </a:p>
          <a:p>
            <a:pPr marL="0" indent="0">
              <a:lnSpc>
                <a:spcPct val="110000"/>
              </a:lnSpc>
              <a:buNone/>
            </a:pPr>
            <a:r>
              <a:rPr lang="en-GB" sz="1100" dirty="0"/>
              <a:t>I offer a warm, steady space where children can express themselves in ways that feel natural to them. Depending on their age and needs, this may include play, creativity, stories, art, movement, or simple conversation.</a:t>
            </a:r>
          </a:p>
          <a:p>
            <a:pPr marL="0" indent="0">
              <a:lnSpc>
                <a:spcPct val="110000"/>
              </a:lnSpc>
              <a:buNone/>
            </a:pPr>
            <a:r>
              <a:rPr lang="en-GB" sz="1100" dirty="0"/>
              <a:t>I have particular experience supporting neurodivergent children, including those with autism, ADHD, sensory differences, and emotional regulation difficulties.</a:t>
            </a:r>
          </a:p>
          <a:p>
            <a:pPr marL="0" indent="0">
              <a:lnSpc>
                <a:spcPct val="110000"/>
              </a:lnSpc>
              <a:buNone/>
            </a:pPr>
            <a:r>
              <a:rPr lang="en-GB" sz="1100" dirty="0"/>
              <a:t>I support children with:</a:t>
            </a:r>
          </a:p>
          <a:p>
            <a:pPr>
              <a:lnSpc>
                <a:spcPct val="110000"/>
              </a:lnSpc>
            </a:pPr>
            <a:r>
              <a:rPr lang="en-GB" sz="1100" dirty="0"/>
              <a:t>Anxiety and worry</a:t>
            </a:r>
          </a:p>
          <a:p>
            <a:pPr>
              <a:lnSpc>
                <a:spcPct val="110000"/>
              </a:lnSpc>
            </a:pPr>
            <a:r>
              <a:rPr lang="en-GB" sz="1100" dirty="0"/>
              <a:t>Low mood or withdrawal</a:t>
            </a:r>
          </a:p>
          <a:p>
            <a:pPr>
              <a:lnSpc>
                <a:spcPct val="110000"/>
              </a:lnSpc>
            </a:pPr>
            <a:r>
              <a:rPr lang="en-GB" sz="1100" dirty="0"/>
              <a:t>Friendship and school challenges</a:t>
            </a:r>
          </a:p>
          <a:p>
            <a:pPr>
              <a:lnSpc>
                <a:spcPct val="110000"/>
              </a:lnSpc>
            </a:pPr>
            <a:r>
              <a:rPr lang="en-GB" sz="1100" dirty="0"/>
              <a:t>Loss and bereavement</a:t>
            </a:r>
          </a:p>
          <a:p>
            <a:pPr>
              <a:lnSpc>
                <a:spcPct val="110000"/>
              </a:lnSpc>
            </a:pPr>
            <a:r>
              <a:rPr lang="en-GB" sz="1100" dirty="0"/>
              <a:t>Emotional regulation</a:t>
            </a:r>
          </a:p>
          <a:p>
            <a:pPr>
              <a:lnSpc>
                <a:spcPct val="110000"/>
              </a:lnSpc>
            </a:pPr>
            <a:r>
              <a:rPr lang="en-GB" sz="1100" dirty="0"/>
              <a:t>Feeling different or struggling to fit in</a:t>
            </a:r>
          </a:p>
          <a:p>
            <a:pPr>
              <a:lnSpc>
                <a:spcPct val="110000"/>
              </a:lnSpc>
            </a:pPr>
            <a:r>
              <a:rPr lang="en-GB" sz="1100" dirty="0"/>
              <a:t>Family changes such as separation or divorce</a:t>
            </a:r>
          </a:p>
          <a:p>
            <a:pPr>
              <a:lnSpc>
                <a:spcPct val="110000"/>
              </a:lnSpc>
            </a:pPr>
            <a:r>
              <a:rPr lang="en-GB" sz="1100" dirty="0"/>
              <a:t>OCD, intrusive thoughts, self-harm or suicidal thoughts</a:t>
            </a:r>
          </a:p>
          <a:p>
            <a:pPr marL="0" indent="0">
              <a:lnSpc>
                <a:spcPct val="110000"/>
              </a:lnSpc>
              <a:buNone/>
            </a:pPr>
            <a:r>
              <a:rPr lang="en-GB" sz="1100" dirty="0"/>
              <a:t>Over time, children often gain a better understanding of themselves, feel more secure, and develop tools to manage their emotions with confidence.</a:t>
            </a:r>
          </a:p>
          <a:p>
            <a:pPr marL="0" indent="0">
              <a:lnSpc>
                <a:spcPct val="110000"/>
              </a:lnSpc>
              <a:buNone/>
            </a:pPr>
            <a:r>
              <a:rPr lang="en-GB" sz="1100" dirty="0"/>
              <a:t>If you or your child needs support with something not listed, you’re welcome to book a free 15-minute call. I can signpost you if I’m not the right fit. </a:t>
            </a:r>
            <a:r>
              <a:rPr lang="en-GB" sz="1100" b="1" dirty="0">
                <a:solidFill>
                  <a:srgbClr val="FF0000"/>
                </a:solidFill>
              </a:rPr>
              <a:t>GET IN TOUCH BUTTON</a:t>
            </a:r>
          </a:p>
        </p:txBody>
      </p:sp>
      <p:sp>
        <p:nvSpPr>
          <p:cNvPr id="8" name="Picture Placeholder 3">
            <a:extLst>
              <a:ext uri="{FF2B5EF4-FFF2-40B4-BE49-F238E27FC236}">
                <a16:creationId xmlns:a16="http://schemas.microsoft.com/office/drawing/2014/main" id="{91930EEE-EDD3-748E-C6BB-440D9420079F}"/>
              </a:ext>
            </a:extLst>
          </p:cNvPr>
          <p:cNvSpPr>
            <a:spLocks noGrp="1"/>
          </p:cNvSpPr>
          <p:nvPr>
            <p:ph type="pic" sz="quarter" idx="13"/>
          </p:nvPr>
        </p:nvSpPr>
        <p:spPr>
          <a:xfrm>
            <a:off x="8091732" y="0"/>
            <a:ext cx="4100267" cy="6858000"/>
          </a:xfrm>
        </p:spPr>
        <p:txBody>
          <a:bodyPr/>
          <a:lstStyle/>
          <a:p>
            <a:endParaRPr lang="en-GB"/>
          </a:p>
        </p:txBody>
      </p:sp>
    </p:spTree>
    <p:extLst>
      <p:ext uri="{BB962C8B-B14F-4D97-AF65-F5344CB8AC3E}">
        <p14:creationId xmlns:p14="http://schemas.microsoft.com/office/powerpoint/2010/main" val="2837151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E1D7F-46CE-1C3C-04D5-9E96BA246D84}"/>
              </a:ext>
            </a:extLst>
          </p:cNvPr>
          <p:cNvSpPr>
            <a:spLocks noGrp="1"/>
          </p:cNvSpPr>
          <p:nvPr>
            <p:ph type="title"/>
          </p:nvPr>
        </p:nvSpPr>
        <p:spPr>
          <a:xfrm>
            <a:off x="612647" y="320040"/>
            <a:ext cx="10221608" cy="932688"/>
          </a:xfrm>
        </p:spPr>
        <p:txBody>
          <a:bodyPr>
            <a:normAutofit/>
          </a:bodyPr>
          <a:lstStyle/>
          <a:p>
            <a:r>
              <a:rPr lang="en-GB" dirty="0"/>
              <a:t>How therapy can support change</a:t>
            </a:r>
          </a:p>
        </p:txBody>
      </p:sp>
      <p:sp>
        <p:nvSpPr>
          <p:cNvPr id="3" name="Content Placeholder 2">
            <a:extLst>
              <a:ext uri="{FF2B5EF4-FFF2-40B4-BE49-F238E27FC236}">
                <a16:creationId xmlns:a16="http://schemas.microsoft.com/office/drawing/2014/main" id="{AC0A7B1B-C3DB-97FF-1F6C-83369C602D35}"/>
              </a:ext>
            </a:extLst>
          </p:cNvPr>
          <p:cNvSpPr>
            <a:spLocks noGrp="1"/>
          </p:cNvSpPr>
          <p:nvPr>
            <p:ph sz="quarter" idx="14"/>
          </p:nvPr>
        </p:nvSpPr>
        <p:spPr/>
        <p:txBody>
          <a:bodyPr>
            <a:normAutofit fontScale="92500" lnSpcReduction="20000"/>
          </a:bodyPr>
          <a:lstStyle/>
          <a:p>
            <a:r>
              <a:rPr lang="en-GB" dirty="0"/>
              <a:t>As our work unfolds, you may start to notice small but meaningful changes, such as:</a:t>
            </a:r>
            <a:br>
              <a:rPr lang="en-GB" dirty="0"/>
            </a:br>
            <a:r>
              <a:rPr lang="en-GB" dirty="0"/>
              <a:t>– Thoughts and feelings that once felt confusing becoming a little clearer</a:t>
            </a:r>
            <a:br>
              <a:rPr lang="en-GB" dirty="0"/>
            </a:br>
            <a:r>
              <a:rPr lang="en-GB" dirty="0"/>
              <a:t>– A kinder inner voice, with less self-criticism and more self-understanding</a:t>
            </a:r>
            <a:br>
              <a:rPr lang="en-GB" dirty="0"/>
            </a:br>
            <a:r>
              <a:rPr lang="en-GB" dirty="0"/>
              <a:t>– Greater awareness of emotional patterns and relationship dynamics</a:t>
            </a:r>
            <a:br>
              <a:rPr lang="en-GB" dirty="0"/>
            </a:br>
            <a:r>
              <a:rPr lang="en-GB" dirty="0"/>
              <a:t>– Clearer boundaries and a stronger sense of what you need</a:t>
            </a:r>
            <a:br>
              <a:rPr lang="en-GB" dirty="0"/>
            </a:br>
            <a:r>
              <a:rPr lang="en-GB" dirty="0"/>
              <a:t>– Subtle shifts in how you relate to yourself and others</a:t>
            </a:r>
            <a:br>
              <a:rPr lang="en-GB" dirty="0"/>
            </a:br>
            <a:r>
              <a:rPr lang="en-GB" dirty="0"/>
              <a:t>– A growing sense of steadiness, clarity, and emotional breathing space</a:t>
            </a:r>
          </a:p>
          <a:p>
            <a:r>
              <a:rPr lang="en-GB" dirty="0"/>
              <a:t>Change doesn’t need to be dramatic to matter. Often, it shows up quietly in everyday moments.</a:t>
            </a:r>
          </a:p>
          <a:p>
            <a:endParaRPr lang="en-GB" dirty="0"/>
          </a:p>
        </p:txBody>
      </p:sp>
    </p:spTree>
    <p:extLst>
      <p:ext uri="{BB962C8B-B14F-4D97-AF65-F5344CB8AC3E}">
        <p14:creationId xmlns:p14="http://schemas.microsoft.com/office/powerpoint/2010/main" val="2520096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15A5A-C4A4-9F26-F97A-A55523249547}"/>
              </a:ext>
            </a:extLst>
          </p:cNvPr>
          <p:cNvSpPr>
            <a:spLocks noGrp="1"/>
          </p:cNvSpPr>
          <p:nvPr>
            <p:ph type="title"/>
          </p:nvPr>
        </p:nvSpPr>
        <p:spPr/>
        <p:txBody>
          <a:bodyPr/>
          <a:lstStyle/>
          <a:p>
            <a:r>
              <a:rPr lang="en-GB" dirty="0"/>
              <a:t>Areas of Specialism</a:t>
            </a:r>
          </a:p>
        </p:txBody>
      </p:sp>
      <p:pic>
        <p:nvPicPr>
          <p:cNvPr id="5" name="Picture 4">
            <a:extLst>
              <a:ext uri="{FF2B5EF4-FFF2-40B4-BE49-F238E27FC236}">
                <a16:creationId xmlns:a16="http://schemas.microsoft.com/office/drawing/2014/main" id="{C3C90B3E-31EB-815C-CB0F-C578E0D8E7E5}"/>
              </a:ext>
            </a:extLst>
          </p:cNvPr>
          <p:cNvPicPr>
            <a:picLocks noChangeAspect="1"/>
          </p:cNvPicPr>
          <p:nvPr/>
        </p:nvPicPr>
        <p:blipFill>
          <a:blip r:embed="rId2"/>
          <a:stretch>
            <a:fillRect/>
          </a:stretch>
        </p:blipFill>
        <p:spPr>
          <a:xfrm>
            <a:off x="2190549" y="1739813"/>
            <a:ext cx="7810901" cy="3378374"/>
          </a:xfrm>
          <a:prstGeom prst="rect">
            <a:avLst/>
          </a:prstGeom>
        </p:spPr>
      </p:pic>
    </p:spTree>
    <p:extLst>
      <p:ext uri="{BB962C8B-B14F-4D97-AF65-F5344CB8AC3E}">
        <p14:creationId xmlns:p14="http://schemas.microsoft.com/office/powerpoint/2010/main" val="3482519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9B6C1F-F641-B693-FB85-0216F4E555E4}"/>
            </a:ext>
          </a:extLst>
        </p:cNvPr>
        <p:cNvGrpSpPr/>
        <p:nvPr/>
      </p:nvGrpSpPr>
      <p:grpSpPr>
        <a:xfrm>
          <a:off x="0" y="0"/>
          <a:ext cx="0" cy="0"/>
          <a:chOff x="0" y="0"/>
          <a:chExt cx="0" cy="0"/>
        </a:xfrm>
      </p:grpSpPr>
      <p:pic>
        <p:nvPicPr>
          <p:cNvPr id="5" name="Picture 4" descr="Person pointing on a map">
            <a:extLst>
              <a:ext uri="{FF2B5EF4-FFF2-40B4-BE49-F238E27FC236}">
                <a16:creationId xmlns:a16="http://schemas.microsoft.com/office/drawing/2014/main" id="{164A97C2-34EA-A329-428D-6C247338B3F8}"/>
              </a:ext>
            </a:extLst>
          </p:cNvPr>
          <p:cNvPicPr>
            <a:picLocks noChangeAspect="1"/>
          </p:cNvPicPr>
          <p:nvPr/>
        </p:nvPicPr>
        <p:blipFill>
          <a:blip r:embed="rId2">
            <a:alphaModFix amt="55000"/>
          </a:blip>
          <a:srcRect b="15730"/>
          <a:stretch>
            <a:fillRect/>
          </a:stretch>
        </p:blipFill>
        <p:spPr>
          <a:xfrm>
            <a:off x="20" y="-9107"/>
            <a:ext cx="12191980" cy="6858000"/>
          </a:xfrm>
          <a:prstGeom prst="rect">
            <a:avLst/>
          </a:prstGeom>
        </p:spPr>
      </p:pic>
      <p:sp>
        <p:nvSpPr>
          <p:cNvPr id="2" name="Title 1">
            <a:extLst>
              <a:ext uri="{FF2B5EF4-FFF2-40B4-BE49-F238E27FC236}">
                <a16:creationId xmlns:a16="http://schemas.microsoft.com/office/drawing/2014/main" id="{006A3971-DA16-B7C1-AAF5-50D1AFC82ACD}"/>
              </a:ext>
            </a:extLst>
          </p:cNvPr>
          <p:cNvSpPr>
            <a:spLocks noGrp="1"/>
          </p:cNvSpPr>
          <p:nvPr>
            <p:ph type="title"/>
          </p:nvPr>
        </p:nvSpPr>
        <p:spPr/>
        <p:txBody>
          <a:bodyPr>
            <a:normAutofit fontScale="90000"/>
          </a:bodyPr>
          <a:lstStyle/>
          <a:p>
            <a:r>
              <a:rPr lang="en-GB" dirty="0"/>
              <a:t>Location &amp; Sessions</a:t>
            </a:r>
            <a:br>
              <a:rPr lang="en-GB" dirty="0"/>
            </a:br>
            <a:br>
              <a:rPr lang="en-GB" dirty="0">
                <a:solidFill>
                  <a:srgbClr val="FFFFFF"/>
                </a:solidFill>
              </a:rPr>
            </a:br>
            <a:br>
              <a:rPr lang="en-GB" dirty="0">
                <a:solidFill>
                  <a:srgbClr val="FFFFFF"/>
                </a:solidFill>
              </a:rPr>
            </a:br>
            <a:br>
              <a:rPr lang="en-GB" dirty="0">
                <a:solidFill>
                  <a:srgbClr val="FF0000"/>
                </a:solidFill>
              </a:rPr>
            </a:br>
            <a:endParaRPr lang="en-GB" dirty="0">
              <a:solidFill>
                <a:srgbClr val="FFFFFF"/>
              </a:solidFill>
            </a:endParaRPr>
          </a:p>
        </p:txBody>
      </p:sp>
      <p:sp>
        <p:nvSpPr>
          <p:cNvPr id="3" name="Content Placeholder 2">
            <a:extLst>
              <a:ext uri="{FF2B5EF4-FFF2-40B4-BE49-F238E27FC236}">
                <a16:creationId xmlns:a16="http://schemas.microsoft.com/office/drawing/2014/main" id="{D7B47CAE-3350-3A82-F904-550B37EA5DBA}"/>
              </a:ext>
            </a:extLst>
          </p:cNvPr>
          <p:cNvSpPr>
            <a:spLocks noGrp="1"/>
          </p:cNvSpPr>
          <p:nvPr>
            <p:ph type="body" sz="quarter" idx="13"/>
          </p:nvPr>
        </p:nvSpPr>
        <p:spPr>
          <a:xfrm>
            <a:off x="474662" y="1153695"/>
            <a:ext cx="11242676" cy="4782560"/>
          </a:xfrm>
        </p:spPr>
        <p:txBody>
          <a:bodyPr numCol="2" anchor="ctr">
            <a:normAutofit/>
          </a:bodyPr>
          <a:lstStyle/>
          <a:p>
            <a:pPr>
              <a:lnSpc>
                <a:spcPct val="110000"/>
              </a:lnSpc>
            </a:pPr>
            <a:r>
              <a:rPr lang="en-GB" sz="1700" dirty="0"/>
              <a:t>Face-to-face sessions take place in my private counselling room at:</a:t>
            </a:r>
          </a:p>
          <a:p>
            <a:pPr>
              <a:lnSpc>
                <a:spcPct val="110000"/>
              </a:lnSpc>
            </a:pPr>
            <a:r>
              <a:rPr lang="en-GB" sz="1700" dirty="0"/>
              <a:t>Cobbs Wood House, Chart Road</a:t>
            </a:r>
            <a:br>
              <a:rPr lang="en-GB" sz="1700" dirty="0"/>
            </a:br>
            <a:r>
              <a:rPr lang="en-GB" sz="1700" dirty="0"/>
              <a:t>Ashford, Kent</a:t>
            </a:r>
            <a:br>
              <a:rPr lang="en-GB" sz="1700" dirty="0"/>
            </a:br>
            <a:r>
              <a:rPr lang="en-GB" sz="1700" dirty="0"/>
              <a:t>TN23 1EP</a:t>
            </a:r>
          </a:p>
          <a:p>
            <a:pPr>
              <a:lnSpc>
                <a:spcPct val="110000"/>
              </a:lnSpc>
            </a:pPr>
            <a:r>
              <a:rPr lang="en-GB" sz="1700" dirty="0"/>
              <a:t>Online video and telephone sessions are also available.</a:t>
            </a:r>
          </a:p>
          <a:p>
            <a:pPr marL="0" indent="0">
              <a:lnSpc>
                <a:spcPct val="110000"/>
              </a:lnSpc>
              <a:buNone/>
            </a:pPr>
            <a:r>
              <a:rPr lang="en-GB" sz="1700" dirty="0"/>
              <a:t>Map: </a:t>
            </a:r>
          </a:p>
          <a:p>
            <a:pPr marL="0" indent="0">
              <a:lnSpc>
                <a:spcPct val="110000"/>
              </a:lnSpc>
              <a:buNone/>
            </a:pPr>
            <a:endParaRPr lang="en-GB" sz="1800" dirty="0">
              <a:solidFill>
                <a:srgbClr val="FF0000"/>
              </a:solidFill>
            </a:endParaRPr>
          </a:p>
          <a:p>
            <a:pPr marL="0" indent="0">
              <a:lnSpc>
                <a:spcPct val="110000"/>
              </a:lnSpc>
              <a:buNone/>
            </a:pPr>
            <a:endParaRPr lang="en-GB" sz="1800" dirty="0">
              <a:solidFill>
                <a:srgbClr val="FF0000"/>
              </a:solidFill>
            </a:endParaRPr>
          </a:p>
          <a:p>
            <a:pPr marL="0" indent="0">
              <a:lnSpc>
                <a:spcPct val="110000"/>
              </a:lnSpc>
              <a:buNone/>
            </a:pPr>
            <a:r>
              <a:rPr lang="en-GB" sz="1800" b="1" dirty="0">
                <a:solidFill>
                  <a:srgbClr val="00B0F0"/>
                </a:solidFill>
              </a:rPr>
              <a:t>Parking is available on site and there is a waiting room for parents or family members. </a:t>
            </a:r>
          </a:p>
          <a:p>
            <a:pPr marL="0" indent="0">
              <a:lnSpc>
                <a:spcPct val="110000"/>
              </a:lnSpc>
              <a:buNone/>
            </a:pPr>
            <a:r>
              <a:rPr lang="en-GB" sz="1800" dirty="0">
                <a:solidFill>
                  <a:srgbClr val="FF0000"/>
                </a:solidFill>
              </a:rPr>
              <a:t>Get in touch via email link buttons</a:t>
            </a:r>
            <a:r>
              <a:rPr lang="en-GB" sz="1700" dirty="0"/>
              <a:t> </a:t>
            </a:r>
          </a:p>
          <a:p>
            <a:pPr marL="0" indent="0">
              <a:lnSpc>
                <a:spcPct val="110000"/>
              </a:lnSpc>
              <a:buNone/>
            </a:pPr>
            <a:r>
              <a:rPr lang="en-GB" sz="1700" dirty="0"/>
              <a:t>Email: </a:t>
            </a:r>
            <a:r>
              <a:rPr lang="en-GB" sz="1400" dirty="0"/>
              <a:t>tashacounsellinghq@gmail.com</a:t>
            </a:r>
          </a:p>
          <a:p>
            <a:pPr marL="0" indent="0">
              <a:lnSpc>
                <a:spcPct val="110000"/>
              </a:lnSpc>
              <a:buNone/>
            </a:pPr>
            <a:r>
              <a:rPr lang="en-GB" sz="1200" dirty="0"/>
              <a:t>I aim to respond to emails within 48 hours. If you need urgent support, please contact emergency services. Details of additional support can be found on my signposting page.</a:t>
            </a:r>
            <a:endParaRPr lang="en-GB" sz="1200" dirty="0">
              <a:solidFill>
                <a:srgbClr val="FFFFFF"/>
              </a:solidFill>
            </a:endParaRPr>
          </a:p>
          <a:p>
            <a:pPr marL="0" indent="0">
              <a:lnSpc>
                <a:spcPct val="110000"/>
              </a:lnSpc>
              <a:buNone/>
            </a:pPr>
            <a:r>
              <a:rPr lang="en-GB" sz="1700" dirty="0">
                <a:solidFill>
                  <a:srgbClr val="FFFFFF"/>
                </a:solidFill>
              </a:rPr>
              <a:t> </a:t>
            </a:r>
            <a:r>
              <a:rPr lang="en-GB" sz="1700" dirty="0">
                <a:solidFill>
                  <a:srgbClr val="0070C0"/>
                </a:solidFill>
              </a:rPr>
              <a:t>Can the map have a link with Google maps? directions?</a:t>
            </a:r>
            <a:endParaRPr lang="en-GB" sz="1700" dirty="0">
              <a:solidFill>
                <a:srgbClr val="FFFFFF"/>
              </a:solidFill>
            </a:endParaRPr>
          </a:p>
        </p:txBody>
      </p:sp>
      <p:sp>
        <p:nvSpPr>
          <p:cNvPr id="4" name="Text Placeholder 3">
            <a:extLst>
              <a:ext uri="{FF2B5EF4-FFF2-40B4-BE49-F238E27FC236}">
                <a16:creationId xmlns:a16="http://schemas.microsoft.com/office/drawing/2014/main" id="{714E5F63-0B89-349F-806D-70D536B419FF}"/>
              </a:ext>
            </a:extLst>
          </p:cNvPr>
          <p:cNvSpPr>
            <a:spLocks noGrp="1"/>
          </p:cNvSpPr>
          <p:nvPr>
            <p:ph type="body" sz="quarter" idx="14"/>
          </p:nvPr>
        </p:nvSpPr>
        <p:spPr/>
        <p:txBody>
          <a:bodyPr>
            <a:normAutofit/>
          </a:bodyPr>
          <a:lstStyle/>
          <a:p>
            <a:pPr marL="0" indent="0">
              <a:lnSpc>
                <a:spcPct val="110000"/>
              </a:lnSpc>
              <a:buNone/>
            </a:pPr>
            <a:br>
              <a:rPr lang="en-GB" dirty="0"/>
            </a:br>
            <a:endParaRPr lang="en-GB" dirty="0"/>
          </a:p>
          <a:p>
            <a:endParaRPr lang="en-GB" dirty="0"/>
          </a:p>
        </p:txBody>
      </p:sp>
      <p:pic>
        <p:nvPicPr>
          <p:cNvPr id="10" name="Picture 9">
            <a:extLst>
              <a:ext uri="{FF2B5EF4-FFF2-40B4-BE49-F238E27FC236}">
                <a16:creationId xmlns:a16="http://schemas.microsoft.com/office/drawing/2014/main" id="{0B7A50B3-E42F-5EEF-6616-15DE1190D566}"/>
              </a:ext>
            </a:extLst>
          </p:cNvPr>
          <p:cNvPicPr>
            <a:picLocks noChangeAspect="1"/>
          </p:cNvPicPr>
          <p:nvPr/>
        </p:nvPicPr>
        <p:blipFill>
          <a:blip r:embed="rId3"/>
          <a:stretch>
            <a:fillRect/>
          </a:stretch>
        </p:blipFill>
        <p:spPr>
          <a:xfrm>
            <a:off x="1906587" y="3419893"/>
            <a:ext cx="1946203" cy="1352693"/>
          </a:xfrm>
          <a:prstGeom prst="rect">
            <a:avLst/>
          </a:prstGeom>
        </p:spPr>
      </p:pic>
    </p:spTree>
    <p:extLst>
      <p:ext uri="{BB962C8B-B14F-4D97-AF65-F5344CB8AC3E}">
        <p14:creationId xmlns:p14="http://schemas.microsoft.com/office/powerpoint/2010/main" val="3150569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B44B5-75E8-D26F-DA9C-8768483093B2}"/>
              </a:ext>
            </a:extLst>
          </p:cNvPr>
          <p:cNvSpPr>
            <a:spLocks noGrp="1"/>
          </p:cNvSpPr>
          <p:nvPr>
            <p:ph type="title"/>
          </p:nvPr>
        </p:nvSpPr>
        <p:spPr/>
        <p:txBody>
          <a:bodyPr/>
          <a:lstStyle/>
          <a:p>
            <a:r>
              <a:rPr lang="en-GB" dirty="0"/>
              <a:t>Begin Your Counselling HQ Journey</a:t>
            </a:r>
            <a:br>
              <a:rPr lang="en-GB" dirty="0"/>
            </a:br>
            <a:endParaRPr lang="en-GB" dirty="0"/>
          </a:p>
        </p:txBody>
      </p:sp>
      <p:sp>
        <p:nvSpPr>
          <p:cNvPr id="3" name="Text Placeholder 2">
            <a:extLst>
              <a:ext uri="{FF2B5EF4-FFF2-40B4-BE49-F238E27FC236}">
                <a16:creationId xmlns:a16="http://schemas.microsoft.com/office/drawing/2014/main" id="{D53593D0-76FC-BD38-A247-A7B46389FF4E}"/>
              </a:ext>
            </a:extLst>
          </p:cNvPr>
          <p:cNvSpPr>
            <a:spLocks noGrp="1"/>
          </p:cNvSpPr>
          <p:nvPr>
            <p:ph type="body" sz="quarter" idx="13"/>
          </p:nvPr>
        </p:nvSpPr>
        <p:spPr>
          <a:xfrm>
            <a:off x="612774" y="1825625"/>
            <a:ext cx="9871075" cy="4351338"/>
          </a:xfrm>
        </p:spPr>
        <p:txBody>
          <a:bodyPr>
            <a:normAutofit/>
          </a:bodyPr>
          <a:lstStyle/>
          <a:p>
            <a:r>
              <a:rPr lang="en-GB" dirty="0"/>
              <a:t>Taking the first step towards supporting you or your family members' emotional well-being is an act of profound care. </a:t>
            </a:r>
            <a:endParaRPr lang="en-GB" sz="1400" dirty="0"/>
          </a:p>
          <a:p>
            <a:r>
              <a:rPr lang="en-GB" sz="1400" dirty="0"/>
              <a:t>There’s no pressure to perform or have the “right” words here.</a:t>
            </a:r>
          </a:p>
          <a:p>
            <a:r>
              <a:rPr lang="en-GB" sz="1400" dirty="0"/>
              <a:t>You can show up feeling unsure, overwhelmed, quiet, or confused — all of you is welcome.</a:t>
            </a:r>
          </a:p>
          <a:p>
            <a:r>
              <a:rPr lang="en-GB" sz="1400" dirty="0"/>
              <a:t>If you’d like to explore working together, I offer a free 15-minute introductory call.</a:t>
            </a:r>
          </a:p>
          <a:p>
            <a:r>
              <a:rPr lang="en-GB" sz="1400" dirty="0"/>
              <a:t>If I’m not the right fit, I can help signpost you to someone who may be.</a:t>
            </a:r>
          </a:p>
          <a:p>
            <a:r>
              <a:rPr lang="en-GB" sz="1400" b="1" dirty="0">
                <a:solidFill>
                  <a:srgbClr val="FF0000"/>
                </a:solidFill>
              </a:rPr>
              <a:t>GET IN TOUCH BUTTON</a:t>
            </a:r>
          </a:p>
          <a:p>
            <a:endParaRPr lang="en-GB" dirty="0"/>
          </a:p>
        </p:txBody>
      </p:sp>
    </p:spTree>
    <p:extLst>
      <p:ext uri="{BB962C8B-B14F-4D97-AF65-F5344CB8AC3E}">
        <p14:creationId xmlns:p14="http://schemas.microsoft.com/office/powerpoint/2010/main" val="536049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F397C-A35C-D495-1773-8239CDCCD5C3}"/>
              </a:ext>
            </a:extLst>
          </p:cNvPr>
          <p:cNvSpPr>
            <a:spLocks noGrp="1"/>
          </p:cNvSpPr>
          <p:nvPr>
            <p:ph type="title"/>
          </p:nvPr>
        </p:nvSpPr>
        <p:spPr>
          <a:xfrm>
            <a:off x="4745736" y="320040"/>
            <a:ext cx="6858000" cy="932688"/>
          </a:xfrm>
        </p:spPr>
        <p:txBody>
          <a:bodyPr anchor="b">
            <a:normAutofit/>
          </a:bodyPr>
          <a:lstStyle/>
          <a:p>
            <a:r>
              <a:rPr lang="en-GB" dirty="0"/>
              <a:t>Professional Fees</a:t>
            </a:r>
          </a:p>
        </p:txBody>
      </p:sp>
      <p:sp>
        <p:nvSpPr>
          <p:cNvPr id="9" name="Picture Placeholder 2">
            <a:extLst>
              <a:ext uri="{FF2B5EF4-FFF2-40B4-BE49-F238E27FC236}">
                <a16:creationId xmlns:a16="http://schemas.microsoft.com/office/drawing/2014/main" id="{3BE32912-6FE7-30EA-94DF-6E23C272EBB2}"/>
              </a:ext>
            </a:extLst>
          </p:cNvPr>
          <p:cNvSpPr>
            <a:spLocks noGrp="1"/>
          </p:cNvSpPr>
          <p:nvPr>
            <p:ph type="pic" sz="quarter" idx="13"/>
          </p:nvPr>
        </p:nvSpPr>
        <p:spPr>
          <a:xfrm>
            <a:off x="0" y="1"/>
            <a:ext cx="4023360" cy="6858000"/>
          </a:xfrm>
        </p:spPr>
        <p:txBody>
          <a:bodyPr/>
          <a:lstStyle/>
          <a:p>
            <a:endParaRPr lang="en-GB"/>
          </a:p>
        </p:txBody>
      </p:sp>
      <p:sp>
        <p:nvSpPr>
          <p:cNvPr id="4" name="Content Placeholder 3">
            <a:extLst>
              <a:ext uri="{FF2B5EF4-FFF2-40B4-BE49-F238E27FC236}">
                <a16:creationId xmlns:a16="http://schemas.microsoft.com/office/drawing/2014/main" id="{EEFA88A0-56BE-20D6-A390-E98BEF004933}"/>
              </a:ext>
            </a:extLst>
          </p:cNvPr>
          <p:cNvSpPr>
            <a:spLocks noGrp="1"/>
          </p:cNvSpPr>
          <p:nvPr>
            <p:ph sz="quarter" idx="14"/>
          </p:nvPr>
        </p:nvSpPr>
        <p:spPr>
          <a:xfrm>
            <a:off x="4745736" y="1380744"/>
            <a:ext cx="6858000" cy="4983480"/>
          </a:xfrm>
        </p:spPr>
        <p:txBody>
          <a:bodyPr>
            <a:normAutofit fontScale="92500" lnSpcReduction="20000"/>
          </a:bodyPr>
          <a:lstStyle/>
          <a:p>
            <a:pPr marL="0" indent="0">
              <a:buNone/>
            </a:pPr>
            <a:r>
              <a:rPr lang="en-GB" dirty="0"/>
              <a:t>Sessions are £65 per therapeutic hour (50 minutes), or £180 when booked as a block of three or more.</a:t>
            </a:r>
          </a:p>
          <a:p>
            <a:pPr marL="0" indent="0">
              <a:buNone/>
            </a:pPr>
            <a:r>
              <a:rPr lang="en-GB" i="1" u="sng" dirty="0"/>
              <a:t>Concessions available for low-waged earners and for student counsellors.</a:t>
            </a:r>
            <a:endParaRPr lang="en-GB" dirty="0"/>
          </a:p>
          <a:p>
            <a:pPr marL="0" indent="0">
              <a:buNone/>
            </a:pPr>
            <a:r>
              <a:rPr lang="en-GB" i="1" dirty="0"/>
              <a:t>I usually recommend a minimum of six sessions, so we have time to build a trusting relationship and achieve meaningful progress. Payment is accepted via bank transfer or cash prior to each session.</a:t>
            </a:r>
            <a:endParaRPr lang="en-GB" dirty="0"/>
          </a:p>
          <a:p>
            <a:pPr marL="0" indent="0">
              <a:buNone/>
            </a:pPr>
            <a:r>
              <a:rPr lang="en-GB" dirty="0"/>
              <a:t>Ultimately, you choose what feels right for you. There is no expectation.</a:t>
            </a:r>
          </a:p>
          <a:p>
            <a:pPr marL="0" indent="0">
              <a:buNone/>
            </a:pPr>
            <a:r>
              <a:rPr lang="en-GB" dirty="0"/>
              <a:t>Payment for sessions will be expected via cash or bank transfer before each session.</a:t>
            </a:r>
          </a:p>
          <a:p>
            <a:pPr marL="0" indent="0">
              <a:buNone/>
            </a:pPr>
            <a:r>
              <a:rPr lang="en-GB" b="1" dirty="0"/>
              <a:t>Get in touch via email link buttons</a:t>
            </a:r>
            <a:endParaRPr lang="en-GB" dirty="0"/>
          </a:p>
          <a:p>
            <a:pPr marL="0" indent="0">
              <a:buNone/>
            </a:pPr>
            <a:r>
              <a:rPr lang="en-GB" dirty="0"/>
              <a:t> linked to </a:t>
            </a:r>
            <a:r>
              <a:rPr lang="en-GB" u="sng" dirty="0">
                <a:hlinkClick r:id="rId2"/>
              </a:rPr>
              <a:t>tashacounsellinghq@gmail.com</a:t>
            </a:r>
            <a:endParaRPr lang="en-GB" dirty="0"/>
          </a:p>
          <a:p>
            <a:endParaRPr lang="en-GB" dirty="0"/>
          </a:p>
        </p:txBody>
      </p:sp>
    </p:spTree>
    <p:extLst>
      <p:ext uri="{BB962C8B-B14F-4D97-AF65-F5344CB8AC3E}">
        <p14:creationId xmlns:p14="http://schemas.microsoft.com/office/powerpoint/2010/main" val="3300285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44E3F-A1AF-C0B4-1B7F-D062D4713EF1}"/>
              </a:ext>
            </a:extLst>
          </p:cNvPr>
          <p:cNvSpPr>
            <a:spLocks noGrp="1"/>
          </p:cNvSpPr>
          <p:nvPr>
            <p:ph type="title"/>
          </p:nvPr>
        </p:nvSpPr>
        <p:spPr>
          <a:xfrm>
            <a:off x="612648" y="548640"/>
            <a:ext cx="10653578" cy="310342"/>
          </a:xfrm>
        </p:spPr>
        <p:txBody>
          <a:bodyPr>
            <a:normAutofit fontScale="90000"/>
          </a:bodyPr>
          <a:lstStyle/>
          <a:p>
            <a:r>
              <a:rPr lang="en-GB" dirty="0"/>
              <a:t>My Therapy Room:</a:t>
            </a:r>
            <a:br>
              <a:rPr lang="en-GB" dirty="0"/>
            </a:br>
            <a:r>
              <a:rPr lang="en-GB" sz="1600" dirty="0"/>
              <a:t>Need better photos &amp; Photos of me in the room</a:t>
            </a:r>
            <a:br>
              <a:rPr lang="en-GB" dirty="0"/>
            </a:br>
            <a:br>
              <a:rPr lang="en-GB" dirty="0"/>
            </a:br>
            <a:endParaRPr lang="en-GB" dirty="0"/>
          </a:p>
        </p:txBody>
      </p:sp>
      <p:pic>
        <p:nvPicPr>
          <p:cNvPr id="10" name="Picture 9">
            <a:extLst>
              <a:ext uri="{FF2B5EF4-FFF2-40B4-BE49-F238E27FC236}">
                <a16:creationId xmlns:a16="http://schemas.microsoft.com/office/drawing/2014/main" id="{1EB9DB3C-6531-FCCB-EBA6-BA42CA832314}"/>
              </a:ext>
            </a:extLst>
          </p:cNvPr>
          <p:cNvPicPr>
            <a:picLocks noChangeAspect="1"/>
          </p:cNvPicPr>
          <p:nvPr/>
        </p:nvPicPr>
        <p:blipFill>
          <a:blip r:embed="rId2"/>
          <a:stretch>
            <a:fillRect/>
          </a:stretch>
        </p:blipFill>
        <p:spPr>
          <a:xfrm>
            <a:off x="227038" y="1586345"/>
            <a:ext cx="6464707" cy="4652945"/>
          </a:xfrm>
          <a:prstGeom prst="rect">
            <a:avLst/>
          </a:prstGeom>
        </p:spPr>
      </p:pic>
      <p:pic>
        <p:nvPicPr>
          <p:cNvPr id="12" name="Picture 11">
            <a:extLst>
              <a:ext uri="{FF2B5EF4-FFF2-40B4-BE49-F238E27FC236}">
                <a16:creationId xmlns:a16="http://schemas.microsoft.com/office/drawing/2014/main" id="{E0CC9318-E20C-B29B-84C8-BF0D1F7052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1835" y="332509"/>
            <a:ext cx="3731491" cy="2798618"/>
          </a:xfrm>
          <a:prstGeom prst="rect">
            <a:avLst/>
          </a:prstGeom>
        </p:spPr>
      </p:pic>
      <p:pic>
        <p:nvPicPr>
          <p:cNvPr id="16" name="Picture 15">
            <a:extLst>
              <a:ext uri="{FF2B5EF4-FFF2-40B4-BE49-F238E27FC236}">
                <a16:creationId xmlns:a16="http://schemas.microsoft.com/office/drawing/2014/main" id="{8690AF39-BF2E-555D-413B-9DC3207EBB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6684824" y="3704700"/>
            <a:ext cx="3092267" cy="2319200"/>
          </a:xfrm>
          <a:prstGeom prst="rect">
            <a:avLst/>
          </a:prstGeom>
        </p:spPr>
      </p:pic>
    </p:spTree>
    <p:extLst>
      <p:ext uri="{BB962C8B-B14F-4D97-AF65-F5344CB8AC3E}">
        <p14:creationId xmlns:p14="http://schemas.microsoft.com/office/powerpoint/2010/main" val="1162207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F0467-A009-D3BD-B8C4-D807385DE384}"/>
              </a:ext>
            </a:extLst>
          </p:cNvPr>
          <p:cNvSpPr>
            <a:spLocks noGrp="1"/>
          </p:cNvSpPr>
          <p:nvPr>
            <p:ph type="title"/>
          </p:nvPr>
        </p:nvSpPr>
        <p:spPr>
          <a:xfrm>
            <a:off x="453320" y="105293"/>
            <a:ext cx="10653578" cy="1132258"/>
          </a:xfrm>
        </p:spPr>
        <p:txBody>
          <a:bodyPr anchor="t">
            <a:normAutofit/>
          </a:bodyPr>
          <a:lstStyle/>
          <a:p>
            <a:r>
              <a:rPr lang="en-GB" dirty="0"/>
              <a:t>Policies &amp; Ethics</a:t>
            </a:r>
          </a:p>
        </p:txBody>
      </p:sp>
      <p:sp>
        <p:nvSpPr>
          <p:cNvPr id="3" name="Content Placeholder 2">
            <a:extLst>
              <a:ext uri="{FF2B5EF4-FFF2-40B4-BE49-F238E27FC236}">
                <a16:creationId xmlns:a16="http://schemas.microsoft.com/office/drawing/2014/main" id="{FB4151E6-A08D-3212-F6ED-AFA7D2FDA7CC}"/>
              </a:ext>
            </a:extLst>
          </p:cNvPr>
          <p:cNvSpPr>
            <a:spLocks noGrp="1"/>
          </p:cNvSpPr>
          <p:nvPr>
            <p:ph idx="1"/>
          </p:nvPr>
        </p:nvSpPr>
        <p:spPr>
          <a:xfrm>
            <a:off x="508738" y="1237551"/>
            <a:ext cx="10653579" cy="4593828"/>
          </a:xfrm>
        </p:spPr>
        <p:txBody>
          <a:bodyPr>
            <a:normAutofit fontScale="85000" lnSpcReduction="10000"/>
          </a:bodyPr>
          <a:lstStyle/>
          <a:p>
            <a:pPr>
              <a:lnSpc>
                <a:spcPct val="110000"/>
              </a:lnSpc>
            </a:pPr>
            <a:r>
              <a:rPr lang="en-GB" sz="1600" b="1" dirty="0"/>
              <a:t>Cancellation Policy:</a:t>
            </a:r>
            <a:endParaRPr lang="en-GB" sz="1600" dirty="0"/>
          </a:p>
          <a:p>
            <a:pPr>
              <a:lnSpc>
                <a:spcPct val="110000"/>
              </a:lnSpc>
            </a:pPr>
            <a:r>
              <a:rPr lang="en-GB" sz="1600" dirty="0"/>
              <a:t>If you need to cancel or reschedule a session, please give at least 24 hours' notice.</a:t>
            </a:r>
          </a:p>
          <a:p>
            <a:pPr>
              <a:lnSpc>
                <a:spcPct val="110000"/>
              </a:lnSpc>
            </a:pPr>
            <a:r>
              <a:rPr lang="en-GB" sz="1600" dirty="0"/>
              <a:t>Sessions cancelled with less than 24 hours’ notice will still be charged.</a:t>
            </a:r>
          </a:p>
          <a:p>
            <a:pPr>
              <a:lnSpc>
                <a:spcPct val="110000"/>
              </a:lnSpc>
            </a:pPr>
            <a:r>
              <a:rPr lang="en-GB" sz="1600" dirty="0"/>
              <a:t>I understand that unexpected situations and emergencies happen. If this is the case, please do let me know and I will do my best to be flexible where possible.</a:t>
            </a:r>
          </a:p>
          <a:p>
            <a:pPr>
              <a:lnSpc>
                <a:spcPct val="110000"/>
              </a:lnSpc>
            </a:pPr>
            <a:r>
              <a:rPr lang="en-GB" sz="1600" b="1" dirty="0"/>
              <a:t>Ethical and professional principles:</a:t>
            </a:r>
            <a:endParaRPr lang="en-GB" sz="1600" dirty="0"/>
          </a:p>
          <a:p>
            <a:pPr>
              <a:lnSpc>
                <a:spcPct val="110000"/>
              </a:lnSpc>
            </a:pPr>
            <a:r>
              <a:rPr lang="en-GB" sz="1600" dirty="0"/>
              <a:t>As a member of the BACP (British Association for Counselling and Psychotherapy) this means that I commit to high ethical standards, ongoing training (CPD), and supervision, offering you a trusted quality mark. You can have assurance that as your therapist I have to meet rigorous UK standards for competence and safety through the public </a:t>
            </a:r>
            <a:r>
              <a:rPr lang="en-GB" sz="1600" u="sng" dirty="0">
                <a:hlinkClick r:id="rId2"/>
              </a:rPr>
              <a:t>BACP Register</a:t>
            </a:r>
            <a:r>
              <a:rPr lang="en-GB" sz="1600" dirty="0"/>
              <a:t>. This provides me with a professional and ethical framework to keep you safe. And it protects you from unqualified practitioners, ensuring ethical conduct. </a:t>
            </a:r>
          </a:p>
          <a:p>
            <a:pPr>
              <a:lnSpc>
                <a:spcPct val="110000"/>
              </a:lnSpc>
            </a:pPr>
            <a:r>
              <a:rPr lang="en-GB" sz="1600" dirty="0"/>
              <a:t>For further details: </a:t>
            </a:r>
            <a:r>
              <a:rPr lang="en-GB" sz="1600" u="sng" dirty="0">
                <a:hlinkClick r:id="rId3"/>
              </a:rPr>
              <a:t>https://www.bacp.co.uk/about-us/about-bacp/</a:t>
            </a:r>
            <a:endParaRPr lang="en-GB" sz="1600" u="sng" dirty="0"/>
          </a:p>
          <a:p>
            <a:pPr>
              <a:lnSpc>
                <a:spcPct val="110000"/>
              </a:lnSpc>
            </a:pPr>
            <a:r>
              <a:rPr lang="en-GB" sz="1600" b="1" dirty="0">
                <a:solidFill>
                  <a:srgbClr val="00B0F0"/>
                </a:solidFill>
              </a:rPr>
              <a:t>Diversity statement:</a:t>
            </a:r>
          </a:p>
          <a:p>
            <a:pPr>
              <a:lnSpc>
                <a:spcPct val="110000"/>
              </a:lnSpc>
            </a:pPr>
            <a:r>
              <a:rPr lang="en-GB" sz="1600" b="1" dirty="0">
                <a:solidFill>
                  <a:srgbClr val="00B0F0"/>
                </a:solidFill>
              </a:rPr>
              <a:t>I am committed to offering a welcoming, inclusive space where you are respected and valued for who you are. I work with people of all backgrounds, identities, cultures, abilities, and lived experiences, and I approach our work together with openness, curiosity, and compassion. Diversity is recognised, celebrated, and held with care within my practice.</a:t>
            </a:r>
          </a:p>
          <a:p>
            <a:pPr>
              <a:lnSpc>
                <a:spcPct val="110000"/>
              </a:lnSpc>
            </a:pPr>
            <a:endParaRPr lang="en-GB" sz="1600" dirty="0"/>
          </a:p>
        </p:txBody>
      </p:sp>
    </p:spTree>
    <p:extLst>
      <p:ext uri="{BB962C8B-B14F-4D97-AF65-F5344CB8AC3E}">
        <p14:creationId xmlns:p14="http://schemas.microsoft.com/office/powerpoint/2010/main" val="568578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DFD47-3F13-6B92-4147-0B9076585112}"/>
              </a:ext>
            </a:extLst>
          </p:cNvPr>
          <p:cNvSpPr>
            <a:spLocks noGrp="1"/>
          </p:cNvSpPr>
          <p:nvPr>
            <p:ph type="title"/>
          </p:nvPr>
        </p:nvSpPr>
        <p:spPr/>
        <p:txBody>
          <a:bodyPr/>
          <a:lstStyle/>
          <a:p>
            <a:r>
              <a:rPr lang="en-GB" dirty="0" err="1"/>
              <a:t>Signosting</a:t>
            </a:r>
            <a:endParaRPr lang="en-GB" dirty="0"/>
          </a:p>
        </p:txBody>
      </p:sp>
      <p:sp>
        <p:nvSpPr>
          <p:cNvPr id="3" name="Content Placeholder 2">
            <a:extLst>
              <a:ext uri="{FF2B5EF4-FFF2-40B4-BE49-F238E27FC236}">
                <a16:creationId xmlns:a16="http://schemas.microsoft.com/office/drawing/2014/main" id="{471CCACA-86EE-21A0-897A-1FCEC0A01FDF}"/>
              </a:ext>
            </a:extLst>
          </p:cNvPr>
          <p:cNvSpPr>
            <a:spLocks noGrp="1"/>
          </p:cNvSpPr>
          <p:nvPr>
            <p:ph idx="1"/>
          </p:nvPr>
        </p:nvSpPr>
        <p:spPr>
          <a:xfrm>
            <a:off x="523747" y="1321832"/>
            <a:ext cx="10653579" cy="4593828"/>
          </a:xfrm>
        </p:spPr>
        <p:txBody>
          <a:bodyPr>
            <a:normAutofit fontScale="55000" lnSpcReduction="20000"/>
          </a:bodyPr>
          <a:lstStyle/>
          <a:p>
            <a:r>
              <a:rPr lang="en-GB" b="1" dirty="0"/>
              <a:t>Please note that Counselling HQ is not an emergency service.</a:t>
            </a:r>
            <a:endParaRPr lang="en-GB" dirty="0"/>
          </a:p>
          <a:p>
            <a:r>
              <a:rPr lang="en-GB" b="1" dirty="0"/>
              <a:t>If you are in crisis or need immediate support, please contact:</a:t>
            </a:r>
            <a:endParaRPr lang="en-GB" dirty="0"/>
          </a:p>
          <a:p>
            <a:r>
              <a:rPr lang="en-GB" sz="2500" b="1" dirty="0"/>
              <a:t>IN CRISIS:</a:t>
            </a:r>
            <a:endParaRPr lang="en-GB" sz="2500" dirty="0"/>
          </a:p>
          <a:p>
            <a:pPr lvl="0"/>
            <a:r>
              <a:rPr lang="en-GB" b="1" dirty="0"/>
              <a:t>Contact your GP</a:t>
            </a:r>
            <a:endParaRPr lang="en-GB" dirty="0"/>
          </a:p>
          <a:p>
            <a:pPr lvl="0"/>
            <a:r>
              <a:rPr lang="en-GB" b="1" dirty="0"/>
              <a:t>Emergency services – dial 999 if in immediate danger</a:t>
            </a:r>
            <a:endParaRPr lang="en-GB" dirty="0"/>
          </a:p>
          <a:p>
            <a:pPr lvl="0"/>
            <a:r>
              <a:rPr lang="en-GB" b="1" dirty="0"/>
              <a:t>If you aren't sure if you should call 999, you can call NHS 111 for advice. </a:t>
            </a:r>
            <a:r>
              <a:rPr lang="en-GB" b="1" u="sng" dirty="0">
                <a:hlinkClick r:id="rId2"/>
              </a:rPr>
              <a:t>Call 111</a:t>
            </a:r>
            <a:r>
              <a:rPr lang="en-GB" b="1" dirty="0"/>
              <a:t> (England and Wales) or contact </a:t>
            </a:r>
            <a:r>
              <a:rPr lang="en-GB" b="1" u="sng" dirty="0">
                <a:hlinkClick r:id="rId3" tooltip="NHS 111 online"/>
              </a:rPr>
              <a:t>NHS 111 online</a:t>
            </a:r>
            <a:r>
              <a:rPr lang="en-GB" b="1" dirty="0"/>
              <a:t> (England only). They will tell you what to do and where to go.  Option 2</a:t>
            </a:r>
            <a:endParaRPr lang="en-GB" dirty="0"/>
          </a:p>
          <a:p>
            <a:pPr lvl="0"/>
            <a:r>
              <a:rPr lang="en-GB" b="1" dirty="0"/>
              <a:t>Samaritans – 116 123 (free, 24/7) </a:t>
            </a:r>
            <a:r>
              <a:rPr lang="en-GB" b="1" u="sng" dirty="0">
                <a:hlinkClick r:id="rId4"/>
              </a:rPr>
              <a:t>https://www.samaritans.org/</a:t>
            </a:r>
            <a:endParaRPr lang="en-GB" dirty="0"/>
          </a:p>
          <a:p>
            <a:pPr lvl="0"/>
            <a:r>
              <a:rPr lang="en-GB" b="1" dirty="0"/>
              <a:t>Emergency services – dial 999 if in immediate danger</a:t>
            </a:r>
            <a:endParaRPr lang="en-GB" dirty="0"/>
          </a:p>
          <a:p>
            <a:pPr lvl="0"/>
            <a:r>
              <a:rPr lang="en-GB" b="1" dirty="0"/>
              <a:t>Shout – Text “SHOUT” to 85258 (24/7 mental health support) </a:t>
            </a:r>
            <a:r>
              <a:rPr lang="en-GB" b="1" u="sng" dirty="0">
                <a:hlinkClick r:id="rId5"/>
              </a:rPr>
              <a:t>https://giveusashout.org/</a:t>
            </a:r>
            <a:endParaRPr lang="en-GB" dirty="0"/>
          </a:p>
          <a:p>
            <a:pPr lvl="0"/>
            <a:r>
              <a:rPr lang="en-GB" b="1" dirty="0"/>
              <a:t>National Domestic Abuse Helpline – Call 0808 2000 247 </a:t>
            </a:r>
            <a:r>
              <a:rPr lang="en-GB" b="1" u="sng" dirty="0">
                <a:hlinkClick r:id="rId6"/>
              </a:rPr>
              <a:t>https://www.nationaldahelpline.org.uk/</a:t>
            </a:r>
            <a:endParaRPr lang="en-GB" dirty="0"/>
          </a:p>
          <a:p>
            <a:r>
              <a:rPr lang="en-GB" sz="2500" b="1" dirty="0"/>
              <a:t>DEBT &amp; FINANCIAL HELP:</a:t>
            </a:r>
            <a:endParaRPr lang="en-GB" sz="2500" dirty="0"/>
          </a:p>
          <a:p>
            <a:pPr lvl="0"/>
            <a:r>
              <a:rPr lang="en-GB" b="1" dirty="0"/>
              <a:t>Identify Your Need: </a:t>
            </a:r>
            <a:r>
              <a:rPr lang="en-GB" dirty="0"/>
              <a:t>Are you struggling with debt, food, bills, or just need general guidance?</a:t>
            </a:r>
          </a:p>
          <a:p>
            <a:pPr lvl="0"/>
            <a:r>
              <a:rPr lang="en-GB" b="1" dirty="0"/>
              <a:t>Use a Key Service: </a:t>
            </a:r>
            <a:r>
              <a:rPr lang="en-GB" dirty="0"/>
              <a:t>Start with </a:t>
            </a:r>
            <a:r>
              <a:rPr lang="en-GB" u="sng" dirty="0" err="1">
                <a:hlinkClick r:id="rId7"/>
              </a:rPr>
              <a:t>MoneyHelper</a:t>
            </a:r>
            <a:r>
              <a:rPr lang="en-GB" dirty="0"/>
              <a:t>, </a:t>
            </a:r>
            <a:r>
              <a:rPr lang="en-GB" u="sng" dirty="0" err="1">
                <a:hlinkClick r:id="rId8"/>
              </a:rPr>
              <a:t>StepChange</a:t>
            </a:r>
            <a:r>
              <a:rPr lang="en-GB" dirty="0"/>
              <a:t> or  </a:t>
            </a:r>
            <a:r>
              <a:rPr lang="en-GB" u="sng" dirty="0">
                <a:hlinkClick r:id="rId9"/>
              </a:rPr>
              <a:t>Citizens Advice</a:t>
            </a:r>
            <a:r>
              <a:rPr lang="en-GB" dirty="0"/>
              <a:t> to get an overview and links to specialists. </a:t>
            </a:r>
          </a:p>
          <a:p>
            <a:pPr lvl="0"/>
            <a:r>
              <a:rPr lang="en-GB" b="1" dirty="0"/>
              <a:t>Check Local Resources: </a:t>
            </a:r>
            <a:r>
              <a:rPr lang="en-GB" dirty="0"/>
              <a:t>Contact your </a:t>
            </a:r>
            <a:r>
              <a:rPr lang="en-GB" u="sng" dirty="0">
                <a:hlinkClick r:id="rId10"/>
              </a:rPr>
              <a:t>local council</a:t>
            </a:r>
            <a:r>
              <a:rPr lang="en-GB" dirty="0"/>
              <a:t>, find a local </a:t>
            </a:r>
            <a:r>
              <a:rPr lang="en-GB" u="sng" dirty="0">
                <a:hlinkClick r:id="rId11"/>
              </a:rPr>
              <a:t>food bank</a:t>
            </a:r>
            <a:r>
              <a:rPr lang="en-GB" dirty="0"/>
              <a:t> and use online tools like </a:t>
            </a:r>
            <a:r>
              <a:rPr lang="en-GB" u="sng" dirty="0">
                <a:hlinkClick r:id="rId12"/>
              </a:rPr>
              <a:t>Turn2us</a:t>
            </a:r>
            <a:r>
              <a:rPr lang="en-GB" dirty="0"/>
              <a:t>. </a:t>
            </a:r>
          </a:p>
          <a:p>
            <a:endParaRPr lang="en-GB" dirty="0"/>
          </a:p>
        </p:txBody>
      </p:sp>
    </p:spTree>
    <p:extLst>
      <p:ext uri="{BB962C8B-B14F-4D97-AF65-F5344CB8AC3E}">
        <p14:creationId xmlns:p14="http://schemas.microsoft.com/office/powerpoint/2010/main" val="2578130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57DAE-245D-FA8A-3396-623D469C72CE}"/>
              </a:ext>
            </a:extLst>
          </p:cNvPr>
          <p:cNvSpPr>
            <a:spLocks noGrp="1"/>
          </p:cNvSpPr>
          <p:nvPr>
            <p:ph type="title"/>
          </p:nvPr>
        </p:nvSpPr>
        <p:spPr>
          <a:xfrm>
            <a:off x="411757" y="0"/>
            <a:ext cx="10653578" cy="739833"/>
          </a:xfrm>
        </p:spPr>
        <p:txBody>
          <a:bodyPr/>
          <a:lstStyle/>
          <a:p>
            <a:r>
              <a:rPr lang="en-GB" dirty="0"/>
              <a:t>FAQ’s</a:t>
            </a:r>
          </a:p>
        </p:txBody>
      </p:sp>
      <p:sp>
        <p:nvSpPr>
          <p:cNvPr id="3" name="Content Placeholder 2">
            <a:extLst>
              <a:ext uri="{FF2B5EF4-FFF2-40B4-BE49-F238E27FC236}">
                <a16:creationId xmlns:a16="http://schemas.microsoft.com/office/drawing/2014/main" id="{6B95B647-961E-EF53-53BF-CCC851D2E0C3}"/>
              </a:ext>
            </a:extLst>
          </p:cNvPr>
          <p:cNvSpPr>
            <a:spLocks noGrp="1"/>
          </p:cNvSpPr>
          <p:nvPr>
            <p:ph idx="1"/>
          </p:nvPr>
        </p:nvSpPr>
        <p:spPr>
          <a:xfrm>
            <a:off x="411757" y="623455"/>
            <a:ext cx="10966705" cy="5334000"/>
          </a:xfrm>
        </p:spPr>
        <p:txBody>
          <a:bodyPr>
            <a:normAutofit fontScale="25000" lnSpcReduction="20000"/>
          </a:bodyPr>
          <a:lstStyle/>
          <a:p>
            <a:r>
              <a:rPr lang="en-GB" sz="4800" b="1" dirty="0"/>
              <a:t>What happens in a counselling session? </a:t>
            </a:r>
            <a:r>
              <a:rPr lang="en-GB" sz="4800" dirty="0"/>
              <a:t>We talk about whatever feels important to you. There’s no script or pressure, just a safe space to explore thoughts, feelings, experiences, behaviours and patterns at your pace.</a:t>
            </a:r>
          </a:p>
          <a:p>
            <a:r>
              <a:rPr lang="en-GB" sz="4800" b="1" dirty="0"/>
              <a:t>What will happen in our free introductory call? </a:t>
            </a:r>
            <a:r>
              <a:rPr lang="en-GB" sz="4800" dirty="0"/>
              <a:t>The free introductory call is a chance to talk through what’s brought you to counselling and what support you are looking for. You’re welcome to ask any questions you may have. If you wish to proceed with therapy, I will email you a short questionnaire and our counselling agreement, so expectations and confidentiality are clear.</a:t>
            </a:r>
          </a:p>
          <a:p>
            <a:r>
              <a:rPr lang="en-GB" sz="4800" b="1" dirty="0"/>
              <a:t>What will happen in the first session? </a:t>
            </a:r>
            <a:r>
              <a:rPr lang="en-GB" sz="4800" dirty="0"/>
              <a:t>In the first session, whether by phone, online, or in person, we will take time to get to know each other. You are welcome to ask any questions and get a sense of whether I feel like the right fit for you.</a:t>
            </a:r>
          </a:p>
          <a:p>
            <a:r>
              <a:rPr lang="en-GB" sz="4800" dirty="0"/>
              <a:t>The first session will be a little different as I will complete an assessment. We will talk about what has brought you to counselling, a little about your background, and what you hope to gain from our work together. We’ll also go through our counselling agreement, so expectations, boundaries, and confidentiality are clear. We will discuss your questionnaire so I can understand and have a clear idea of what you want, need and how we can tailor our work to achieve your goals.</a:t>
            </a:r>
          </a:p>
          <a:p>
            <a:pPr marL="0" indent="0">
              <a:buNone/>
            </a:pPr>
            <a:r>
              <a:rPr lang="en-GB" sz="4800" dirty="0"/>
              <a:t>     There is no pressure or obligation to continue. This first session is simply a chance for us to explore whether working together feels right for you.</a:t>
            </a:r>
          </a:p>
          <a:p>
            <a:r>
              <a:rPr lang="en-GB" sz="4800" b="1" dirty="0"/>
              <a:t> How many sessions will I need? </a:t>
            </a:r>
            <a:r>
              <a:rPr lang="en-GB" sz="4800" dirty="0"/>
              <a:t>The number of sessions varies for each individual. Some people come for a short time (6-12 sessions), while others choose longer-term support. We will regularly review your goals together as we progress and go at a pace that suits you.</a:t>
            </a:r>
          </a:p>
          <a:p>
            <a:r>
              <a:rPr lang="en-GB" sz="4800" b="1" dirty="0"/>
              <a:t>Can I end counselling at any time? </a:t>
            </a:r>
            <a:r>
              <a:rPr lang="en-GB" sz="4800" dirty="0"/>
              <a:t>Yes, you are free to end our counselling whenever you feel ready. Where possible, it is advised that we plan an ending session together, which brings our work to a gentle close.</a:t>
            </a:r>
          </a:p>
          <a:p>
            <a:r>
              <a:rPr lang="en-GB" sz="4800" b="1" dirty="0"/>
              <a:t>How often will the sessions occur? </a:t>
            </a:r>
            <a:r>
              <a:rPr lang="en-GB" sz="4800" dirty="0"/>
              <a:t>Weekly sessions often work best, or fortnightly if this is your preference. Regularly meeting supports continuity and depth in our work together. We will arrange what suits you best depending on your wants, needs and life challenges.</a:t>
            </a:r>
          </a:p>
          <a:p>
            <a:r>
              <a:rPr lang="en-GB" sz="4800" b="1" dirty="0"/>
              <a:t>When and how do I pay for sessions? </a:t>
            </a:r>
            <a:r>
              <a:rPr lang="en-GB" sz="4800" dirty="0"/>
              <a:t>Payment for sessions will be expected via cash or bank transfer before each session.</a:t>
            </a:r>
            <a:endParaRPr lang="en-GB" sz="4800" b="1" dirty="0"/>
          </a:p>
          <a:p>
            <a:r>
              <a:rPr lang="en-GB" sz="4800" b="1" dirty="0"/>
              <a:t>Is what I share completely confidential? </a:t>
            </a:r>
            <a:r>
              <a:rPr lang="en-GB" sz="4800" dirty="0"/>
              <a:t>Everything you share in counselling is treated with care and kept confidential. There are a few rare situations where I may need to share information, such as if there is a serious risk of harm to you or someone else, concerns about the safety of a child or vulnerable adult, or where the law requires it (for example, in relation to terrorism, money laundering, or a court order). Wherever possible, this would always be discussed with you first.</a:t>
            </a:r>
          </a:p>
        </p:txBody>
      </p:sp>
    </p:spTree>
    <p:extLst>
      <p:ext uri="{BB962C8B-B14F-4D97-AF65-F5344CB8AC3E}">
        <p14:creationId xmlns:p14="http://schemas.microsoft.com/office/powerpoint/2010/main" val="3908649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EE8DA7-9204-599E-DE0A-64CE8CFBBF39}"/>
              </a:ext>
            </a:extLst>
          </p:cNvPr>
          <p:cNvSpPr txBox="1"/>
          <p:nvPr/>
        </p:nvSpPr>
        <p:spPr>
          <a:xfrm>
            <a:off x="536446" y="333895"/>
            <a:ext cx="11447735" cy="5632311"/>
          </a:xfrm>
          <a:prstGeom prst="rect">
            <a:avLst/>
          </a:prstGeom>
          <a:noFill/>
        </p:spPr>
        <p:txBody>
          <a:bodyPr wrap="square">
            <a:spAutoFit/>
          </a:bodyPr>
          <a:lstStyle/>
          <a:p>
            <a:r>
              <a:rPr lang="en-GB" sz="1200" b="1" dirty="0"/>
              <a:t>What are your qualifications?</a:t>
            </a:r>
            <a:endParaRPr lang="en-GB" sz="1200" dirty="0"/>
          </a:p>
          <a:p>
            <a:r>
              <a:rPr lang="en-GB" sz="1200" dirty="0"/>
              <a:t>I am a qualified teacher with a Bachelor of Science (Honours) degree and a Postgraduate Certificate in Education. I have extensive experience working in school settings with children and young people aged 7–18. </a:t>
            </a:r>
          </a:p>
          <a:p>
            <a:endParaRPr lang="en-GB" sz="1200" dirty="0"/>
          </a:p>
          <a:p>
            <a:r>
              <a:rPr lang="en-GB" sz="1200" dirty="0"/>
              <a:t>I later trained as a counsellor, completing Levels 2, 3, and 4 diplomas in Therapeutic Counselling (CPCAB). I am currently completing a Level 5 diploma in Psychotherapeutic Counselling (CPCAB). </a:t>
            </a:r>
          </a:p>
          <a:p>
            <a:endParaRPr lang="en-GB" sz="1200" dirty="0"/>
          </a:p>
          <a:p>
            <a:r>
              <a:rPr lang="en-GB" sz="1200" dirty="0"/>
              <a:t>I am a registered member of the BACP British Association of Counsellors and Psychotherapy, which provides me with an ethical and professional framework. The ICO Information Commissioner's Office, which upholds information rights in the public interest and ensures I am GDPR (General Data Protection Regulation) compliant this gives you more control over your personal data.</a:t>
            </a:r>
          </a:p>
          <a:p>
            <a:endParaRPr lang="en-GB" sz="1200" dirty="0"/>
          </a:p>
          <a:p>
            <a:r>
              <a:rPr lang="en-GB" sz="1200" b="1" dirty="0"/>
              <a:t>What therapy, supervision and training do you participate in?</a:t>
            </a:r>
            <a:endParaRPr lang="en-GB" sz="1200" dirty="0"/>
          </a:p>
          <a:p>
            <a:r>
              <a:rPr lang="en-GB" sz="1200" dirty="0"/>
              <a:t>During my five years of training, I have had weekly or fortnightly therapy myself and I continue to do so. I believe that continued personal therapy is still a vital part of being self-aware, ethical and professional.</a:t>
            </a:r>
          </a:p>
          <a:p>
            <a:endParaRPr lang="en-GB" sz="1200" dirty="0"/>
          </a:p>
          <a:p>
            <a:r>
              <a:rPr lang="en-GB" sz="1200" dirty="0"/>
              <a:t>I have a supervisor whom I meet fortnightly to discuss my client work. Names of my clients are kept anonymous, but this professional obligation ensures that I am managing my clients in a professional, ethical and suitable manner.</a:t>
            </a:r>
            <a:r>
              <a:rPr lang="en-GB" sz="1200" dirty="0">
                <a:solidFill>
                  <a:srgbClr val="FF0000"/>
                </a:solidFill>
              </a:rPr>
              <a:t> </a:t>
            </a:r>
          </a:p>
          <a:p>
            <a:endParaRPr lang="en-GB" sz="1200" dirty="0"/>
          </a:p>
          <a:p>
            <a:r>
              <a:rPr lang="en-GB" sz="1200" dirty="0"/>
              <a:t>I regularly complete training and continuing professional development (CPD). This ensures that I stay informed, updated and continue to develop my knowledge and skills.</a:t>
            </a:r>
          </a:p>
          <a:p>
            <a:endParaRPr lang="en-GB" sz="1200" dirty="0"/>
          </a:p>
          <a:p>
            <a:r>
              <a:rPr lang="en-GB" sz="1200" b="1" dirty="0"/>
              <a:t>What’s the difference between counselling and psychotherapy?</a:t>
            </a:r>
            <a:endParaRPr lang="en-GB" sz="1200" dirty="0"/>
          </a:p>
          <a:p>
            <a:r>
              <a:rPr lang="en-GB" sz="1200" dirty="0"/>
              <a:t>Often these terms are used interchangeably; however, they can differ in focus and depth.</a:t>
            </a:r>
          </a:p>
          <a:p>
            <a:r>
              <a:rPr lang="en-GB" sz="1200" dirty="0"/>
              <a:t>Counselling tends to focus on specific issues in the present. Psychotherapy is deeper and often longer-term, exploring underlying patterns, past experiences and how they shape you now.</a:t>
            </a:r>
          </a:p>
          <a:p>
            <a:r>
              <a:rPr lang="en-GB" sz="1200" dirty="0"/>
              <a:t>Counselling typically involves a shorter-term focus on specific, current issues and providing immediate coping strategies, while psychotherapy is a deeper, longer-term process that addresses underlying causes of emotional and psychological difficulties by exploring past experiences and unconscious patterns. Psychotherapy can be more intensive, whereas counselling is often more focused on the "here-and-now" challenges, like a specific life event or relationship problem. </a:t>
            </a:r>
          </a:p>
          <a:p>
            <a:r>
              <a:rPr lang="en-GB" sz="1200" b="1" dirty="0"/>
              <a:t> </a:t>
            </a:r>
            <a:endParaRPr lang="en-GB" dirty="0"/>
          </a:p>
        </p:txBody>
      </p:sp>
    </p:spTree>
    <p:extLst>
      <p:ext uri="{BB962C8B-B14F-4D97-AF65-F5344CB8AC3E}">
        <p14:creationId xmlns:p14="http://schemas.microsoft.com/office/powerpoint/2010/main" val="21644582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3B2896-CEAC-F2F1-7F16-5336EADDD45A}"/>
              </a:ext>
            </a:extLst>
          </p:cNvPr>
          <p:cNvSpPr txBox="1"/>
          <p:nvPr/>
        </p:nvSpPr>
        <p:spPr>
          <a:xfrm>
            <a:off x="110837" y="440445"/>
            <a:ext cx="11568545" cy="6370975"/>
          </a:xfrm>
          <a:prstGeom prst="rect">
            <a:avLst/>
          </a:prstGeom>
          <a:noFill/>
        </p:spPr>
        <p:txBody>
          <a:bodyPr wrap="square">
            <a:spAutoFit/>
          </a:bodyPr>
          <a:lstStyle/>
          <a:p>
            <a:r>
              <a:rPr lang="en-GB" sz="1200" b="1" dirty="0"/>
              <a:t>What’s the difference between counselling and coaching?</a:t>
            </a:r>
            <a:endParaRPr lang="en-GB" sz="1200" dirty="0"/>
          </a:p>
          <a:p>
            <a:r>
              <a:rPr lang="en-GB" sz="1200" dirty="0"/>
              <a:t>Coaching is great when you’re feeling generally okay but want support moving forward — setting goals, gaining motivation, and making changes in your life or work. It’s focused on where you want to be next.</a:t>
            </a:r>
          </a:p>
          <a:p>
            <a:r>
              <a:rPr lang="en-GB" sz="1200" dirty="0"/>
              <a:t>Counselling is different. It offers a safe space to talk through difficult emotions, past experiences, or challenges that feel overwhelming right now. It helps you make sense of what you’re going through, build coping skills, and feel more like yourself again. Counselling is provided by trained and regulated professionals who support mental and emotional well-being.</a:t>
            </a:r>
          </a:p>
          <a:p>
            <a:r>
              <a:rPr lang="en-GB" sz="1200" dirty="0"/>
              <a:t>A simple way to think about it:</a:t>
            </a:r>
            <a:br>
              <a:rPr lang="en-GB" sz="1200" dirty="0"/>
            </a:br>
            <a:r>
              <a:rPr lang="en-GB" sz="1200" dirty="0"/>
              <a:t>* Coaching supports growth and direction.</a:t>
            </a:r>
            <a:br>
              <a:rPr lang="en-GB" sz="1200" dirty="0"/>
            </a:br>
            <a:r>
              <a:rPr lang="en-GB" sz="1200" dirty="0"/>
              <a:t>* Counselling supports healing and understanding.</a:t>
            </a:r>
          </a:p>
          <a:p>
            <a:r>
              <a:rPr lang="en-GB" sz="1200" dirty="0"/>
              <a:t>If you’re unsure which you need, I’m happy to help you explore the best option for you.</a:t>
            </a:r>
          </a:p>
          <a:p>
            <a:endParaRPr lang="en-GB" sz="1200" dirty="0"/>
          </a:p>
          <a:p>
            <a:r>
              <a:rPr lang="en-GB" sz="1200" b="1" dirty="0"/>
              <a:t>What is integrative therapy?</a:t>
            </a:r>
            <a:endParaRPr lang="en-GB" sz="1200" dirty="0"/>
          </a:p>
          <a:p>
            <a:r>
              <a:rPr lang="en-GB" sz="1200" dirty="0"/>
              <a:t>Integrative psychotherapy is a flexible approach tailored to the individual client.  We are all unique, and so your therapeutic journey needs to be specific to you. Following our assessment, we will build a custom-built toolbox for your mind. This will blend techniques from different therapy styles. This is a whole-person approach that sees you more than just your symptoms, focusing on your mental, physical, and emotional well-being to help you become more whole and resilient</a:t>
            </a:r>
          </a:p>
          <a:p>
            <a:r>
              <a:rPr lang="en-GB" sz="1200" dirty="0"/>
              <a:t>For more in-depth information: </a:t>
            </a:r>
            <a:r>
              <a:rPr lang="en-GB" sz="1200" u="sng" dirty="0">
                <a:hlinkClick r:id="rId2"/>
              </a:rPr>
              <a:t>https://www.bacp.co.uk/about-therapy/types-of-therapy/integrative-counselling/</a:t>
            </a:r>
            <a:endParaRPr lang="en-GB" sz="1200" u="sng" dirty="0"/>
          </a:p>
          <a:p>
            <a:endParaRPr lang="en-GB" sz="1200" b="1" dirty="0"/>
          </a:p>
          <a:p>
            <a:r>
              <a:rPr lang="en-GB" sz="1200" b="1" dirty="0"/>
              <a:t>What is person-centred counselling?</a:t>
            </a:r>
            <a:endParaRPr lang="en-GB" sz="1200" dirty="0"/>
          </a:p>
          <a:p>
            <a:r>
              <a:rPr lang="en-GB" sz="1200" dirty="0"/>
              <a:t>Person-centred or Humanistic counselling is a collaborative approach that places you at the heart of the therapeutic process. I offer a warm, non-judgemental space where you are listened to with care, empathy, and respect, without pressure to be fixed or directed. I believe that, with the right support and understanding, people have the capacity to grow, heal, and find their own way forward.</a:t>
            </a:r>
          </a:p>
          <a:p>
            <a:r>
              <a:rPr lang="en-GB" sz="1200" dirty="0"/>
              <a:t>You are the expert in your own life. My role is to understand your experiences from your point of view and to offer a supportive, reflective space. A sounding board where you can explore what you need, build insight, and move towards greater confidence, choice, and empowerment.</a:t>
            </a:r>
          </a:p>
          <a:p>
            <a:r>
              <a:rPr lang="en-GB" sz="1200" dirty="0"/>
              <a:t>For an in-depth explanation: </a:t>
            </a:r>
            <a:r>
              <a:rPr lang="en-GB" sz="1200" u="sng" dirty="0">
                <a:hlinkClick r:id="rId3"/>
              </a:rPr>
              <a:t>https://www.bacp.co.uk/about-therapy/types-of-therapy/person-centred-counselling/</a:t>
            </a:r>
            <a:endParaRPr lang="en-GB" sz="1200" dirty="0"/>
          </a:p>
          <a:p>
            <a:endParaRPr lang="en-GB" sz="1200" b="1" dirty="0"/>
          </a:p>
          <a:p>
            <a:r>
              <a:rPr lang="en-GB" sz="1200" b="1" dirty="0"/>
              <a:t>What is Trauma-Informed &amp; Strengths-Based therapy?</a:t>
            </a:r>
            <a:endParaRPr lang="en-GB" sz="1200" dirty="0"/>
          </a:p>
          <a:p>
            <a:r>
              <a:rPr lang="en-GB" sz="1200" dirty="0"/>
              <a:t>This philosophy offers a gentle, non-judgemental approach that focuses on your inner world and trusts your natural capacity to grow when you feel heard, valued, and understood. My work is trauma-informed, recognising the impact of life experiences and shifting the focus from “what’s wrong with you?” to “what’s happened to you?”</a:t>
            </a:r>
          </a:p>
          <a:p>
            <a:r>
              <a:rPr lang="en-GB" sz="1200" dirty="0"/>
              <a:t>I work with sensitivity, safety, and collaboration. I won’t rush you or push you into anything before you’re ready. Instead, I walk alongside you, supporting you to explore what matters most at a pace that feels manageable, respectful, and empowering.</a:t>
            </a:r>
          </a:p>
          <a:p>
            <a:r>
              <a:rPr lang="en-GB" sz="1200" dirty="0"/>
              <a:t>For an in-depth explanation: </a:t>
            </a:r>
            <a:r>
              <a:rPr lang="en-GB" sz="1200" u="sng" dirty="0">
                <a:hlinkClick r:id="rId4"/>
              </a:rPr>
              <a:t>https://counsellingtutor.com/trauma-informed-practice/what-is-trauma-informed-practice/</a:t>
            </a:r>
            <a:endParaRPr lang="en-GB" sz="1200" dirty="0"/>
          </a:p>
          <a:p>
            <a:r>
              <a:rPr lang="en-GB" sz="1200" b="1" dirty="0"/>
              <a:t> </a:t>
            </a:r>
          </a:p>
          <a:p>
            <a:endParaRPr lang="en-GB" sz="1200" dirty="0"/>
          </a:p>
        </p:txBody>
      </p:sp>
    </p:spTree>
    <p:extLst>
      <p:ext uri="{BB962C8B-B14F-4D97-AF65-F5344CB8AC3E}">
        <p14:creationId xmlns:p14="http://schemas.microsoft.com/office/powerpoint/2010/main" val="2279774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95B647-961E-EF53-53BF-CCC851D2E0C3}"/>
              </a:ext>
            </a:extLst>
          </p:cNvPr>
          <p:cNvSpPr>
            <a:spLocks noGrp="1"/>
          </p:cNvSpPr>
          <p:nvPr>
            <p:ph idx="1"/>
          </p:nvPr>
        </p:nvSpPr>
        <p:spPr>
          <a:xfrm>
            <a:off x="432538" y="253876"/>
            <a:ext cx="10653579" cy="5731287"/>
          </a:xfrm>
        </p:spPr>
        <p:txBody>
          <a:bodyPr>
            <a:normAutofit/>
          </a:bodyPr>
          <a:lstStyle/>
          <a:p>
            <a:r>
              <a:rPr lang="en-GB" sz="1400" b="1" dirty="0"/>
              <a:t>What is Cognitive Behaviour Therapy (CBT)?</a:t>
            </a:r>
            <a:endParaRPr lang="en-GB" sz="1400" dirty="0"/>
          </a:p>
          <a:p>
            <a:r>
              <a:rPr lang="en-GB" sz="1400" dirty="0"/>
              <a:t>CBT helps you understand how your thoughts, feelings, body and behaviours link together. It gives you practical tools to break unhelpful cycles and feel more in control.</a:t>
            </a:r>
          </a:p>
          <a:p>
            <a:r>
              <a:rPr lang="en-GB" sz="1400" dirty="0"/>
              <a:t>Sometimes we get stuck in patterns that feel helpful in the moment but actually keep us feeling low, anxious or overwhelmed.</a:t>
            </a:r>
          </a:p>
          <a:p>
            <a:r>
              <a:rPr lang="en-GB" sz="1400" dirty="0"/>
              <a:t>Together, we’ll look at what’s keeping those cycles going and build tools that help you break free of them. CBT focuses on the here and now and gives you strategies you can use in everyday life, so you can feel more in control and able to move forward.</a:t>
            </a:r>
          </a:p>
          <a:p>
            <a:r>
              <a:rPr lang="en-GB" sz="1400" dirty="0"/>
              <a:t>For an in-depth explanation: </a:t>
            </a:r>
            <a:r>
              <a:rPr lang="en-GB" sz="1400" u="sng" dirty="0">
                <a:hlinkClick r:id="rId2"/>
              </a:rPr>
              <a:t>https://www.bacp.co.uk/about-therapy/types-of-therapy/cognitive-behavioural-therapy/</a:t>
            </a:r>
            <a:endParaRPr lang="en-GB" sz="1400" dirty="0"/>
          </a:p>
          <a:p>
            <a:r>
              <a:rPr lang="en-GB" sz="1300" b="1" dirty="0"/>
              <a:t>What is Internal Family Systems (IFS)?</a:t>
            </a:r>
          </a:p>
          <a:p>
            <a:r>
              <a:rPr lang="en-GB" sz="1300" dirty="0"/>
              <a:t>IFS explores the different “parts” of you. Perhaps there is an anxious part, a protective part, an overwhelmed part. Exploring these parts of you helps bring more harmony and self-compassion to your inner world.</a:t>
            </a:r>
          </a:p>
          <a:p>
            <a:r>
              <a:rPr lang="en-GB" sz="1300" dirty="0"/>
              <a:t>For further information: </a:t>
            </a:r>
            <a:r>
              <a:rPr lang="en-GB" sz="1300" dirty="0">
                <a:hlinkClick r:id="rId3"/>
              </a:rPr>
              <a:t>https://internalfamilysystemstraining.co.uk/</a:t>
            </a:r>
            <a:endParaRPr lang="en-GB" sz="1300" dirty="0"/>
          </a:p>
          <a:p>
            <a:pPr marL="0" indent="0">
              <a:buNone/>
            </a:pPr>
            <a:endParaRPr lang="en-GB" dirty="0"/>
          </a:p>
        </p:txBody>
      </p:sp>
    </p:spTree>
    <p:extLst>
      <p:ext uri="{BB962C8B-B14F-4D97-AF65-F5344CB8AC3E}">
        <p14:creationId xmlns:p14="http://schemas.microsoft.com/office/powerpoint/2010/main" val="22262943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F67BD0-360B-1AD6-FD13-90B3F24E9103}"/>
              </a:ext>
            </a:extLst>
          </p:cNvPr>
          <p:cNvSpPr>
            <a:spLocks noGrp="1"/>
          </p:cNvSpPr>
          <p:nvPr>
            <p:ph idx="1"/>
          </p:nvPr>
        </p:nvSpPr>
        <p:spPr>
          <a:xfrm>
            <a:off x="447547" y="261382"/>
            <a:ext cx="11217403" cy="6380718"/>
          </a:xfrm>
        </p:spPr>
        <p:txBody>
          <a:bodyPr>
            <a:normAutofit/>
          </a:bodyPr>
          <a:lstStyle/>
          <a:p>
            <a:r>
              <a:rPr lang="en-GB" b="1" dirty="0"/>
              <a:t>What is inner-child therapy?</a:t>
            </a:r>
          </a:p>
          <a:p>
            <a:r>
              <a:rPr lang="en-GB" dirty="0"/>
              <a:t>Inner-child therapy focuses on understanding and caring for parts of you shaped by early experiences. It can help heal old emotional wounds, build self-compassion and change long-standing patterns.</a:t>
            </a:r>
          </a:p>
          <a:p>
            <a:r>
              <a:rPr lang="en-GB" b="1" dirty="0"/>
              <a:t>Learn more:</a:t>
            </a:r>
            <a:br>
              <a:rPr lang="en-GB" dirty="0"/>
            </a:br>
            <a:r>
              <a:rPr lang="en-GB" dirty="0">
                <a:hlinkClick r:id="rId2"/>
              </a:rPr>
              <a:t>https://ifs-institute.com/resources/articles/inner-child-work</a:t>
            </a:r>
            <a:br>
              <a:rPr lang="en-GB" dirty="0"/>
            </a:br>
            <a:endParaRPr lang="en-GB" dirty="0"/>
          </a:p>
          <a:p>
            <a:r>
              <a:rPr lang="en-GB" b="1" dirty="0"/>
              <a:t>What is play therapy?</a:t>
            </a:r>
          </a:p>
          <a:p>
            <a:r>
              <a:rPr lang="en-GB" dirty="0"/>
              <a:t>Play therapy helps children express feelings and experiences through play rather than words alone. It provides a safe, supportive space where children can explore emotions, build confidence and develop coping skills.</a:t>
            </a:r>
          </a:p>
          <a:p>
            <a:r>
              <a:rPr lang="en-GB" b="1" dirty="0"/>
              <a:t>Learn more:</a:t>
            </a:r>
            <a:br>
              <a:rPr lang="en-GB" dirty="0"/>
            </a:br>
            <a:r>
              <a:rPr lang="en-GB" dirty="0">
                <a:hlinkClick r:id="rId3"/>
              </a:rPr>
              <a:t>https://www.bapt.info/play-therapy/</a:t>
            </a:r>
            <a:endParaRPr lang="en-GB" dirty="0"/>
          </a:p>
          <a:p>
            <a:endParaRPr lang="en-GB" dirty="0"/>
          </a:p>
        </p:txBody>
      </p:sp>
    </p:spTree>
    <p:extLst>
      <p:ext uri="{BB962C8B-B14F-4D97-AF65-F5344CB8AC3E}">
        <p14:creationId xmlns:p14="http://schemas.microsoft.com/office/powerpoint/2010/main" val="2388164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C0A77-C711-E476-BA6A-CEC068268E34}"/>
              </a:ext>
            </a:extLst>
          </p:cNvPr>
          <p:cNvSpPr>
            <a:spLocks noGrp="1"/>
          </p:cNvSpPr>
          <p:nvPr>
            <p:ph type="title"/>
          </p:nvPr>
        </p:nvSpPr>
        <p:spPr/>
        <p:txBody>
          <a:bodyPr/>
          <a:lstStyle/>
          <a:p>
            <a:r>
              <a:rPr lang="en-GB" dirty="0"/>
              <a:t>Certificates and Badges</a:t>
            </a:r>
          </a:p>
        </p:txBody>
      </p:sp>
      <p:pic>
        <p:nvPicPr>
          <p:cNvPr id="5" name="Picture 4" descr="ICO logo">
            <a:extLst>
              <a:ext uri="{FF2B5EF4-FFF2-40B4-BE49-F238E27FC236}">
                <a16:creationId xmlns:a16="http://schemas.microsoft.com/office/drawing/2014/main" id="{6B1C72A5-D57A-2CAF-BB1E-4A9FEC29AD9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566035" y="615545"/>
            <a:ext cx="2860040" cy="1609090"/>
          </a:xfrm>
          <a:prstGeom prst="rect">
            <a:avLst/>
          </a:prstGeom>
          <a:noFill/>
          <a:ln>
            <a:noFill/>
          </a:ln>
        </p:spPr>
      </p:pic>
      <p:pic>
        <p:nvPicPr>
          <p:cNvPr id="6" name="Picture 5">
            <a:extLst>
              <a:ext uri="{FF2B5EF4-FFF2-40B4-BE49-F238E27FC236}">
                <a16:creationId xmlns:a16="http://schemas.microsoft.com/office/drawing/2014/main" id="{E253BA30-F8DA-88E8-E40E-1FAFFA5D63D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181" y="4233545"/>
            <a:ext cx="3911773" cy="1746993"/>
          </a:xfrm>
          <a:prstGeom prst="rect">
            <a:avLst/>
          </a:prstGeom>
          <a:noFill/>
          <a:ln>
            <a:noFill/>
          </a:ln>
        </p:spPr>
      </p:pic>
      <p:sp>
        <p:nvSpPr>
          <p:cNvPr id="8" name="TextBox 7">
            <a:extLst>
              <a:ext uri="{FF2B5EF4-FFF2-40B4-BE49-F238E27FC236}">
                <a16:creationId xmlns:a16="http://schemas.microsoft.com/office/drawing/2014/main" id="{61D1B576-6064-94C7-A9BF-56FD0BF29738}"/>
              </a:ext>
            </a:extLst>
          </p:cNvPr>
          <p:cNvSpPr txBox="1"/>
          <p:nvPr/>
        </p:nvSpPr>
        <p:spPr>
          <a:xfrm>
            <a:off x="554181" y="1260842"/>
            <a:ext cx="6096000" cy="2168158"/>
          </a:xfrm>
          <a:prstGeom prst="rect">
            <a:avLst/>
          </a:prstGeom>
          <a:noFill/>
        </p:spPr>
        <p:txBody>
          <a:bodyPr wrap="square">
            <a:spAutoFit/>
          </a:bodyPr>
          <a:lstStyle/>
          <a:p>
            <a:pPr>
              <a:lnSpc>
                <a:spcPct val="107000"/>
              </a:lnSpc>
              <a:spcAft>
                <a:spcPts val="800"/>
              </a:spcAft>
              <a:buNone/>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BACP Quality mark</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en-GB" sz="1800" b="1"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4"/>
              </a:rPr>
              <a:t>https://www.bacp.co.uk/media/21191/psa-quality-mark-logo-for-online.png</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For photo frame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1800" b="1"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5"/>
              </a:rPr>
              <a:t>https://www.bacp.co.uk/media/21201/psa-photo-frame-overlay-with-quality-mark.png</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F9C748C1-C635-DAD3-E013-AEF5FEF073F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199005" y="2498496"/>
            <a:ext cx="3227070" cy="2134870"/>
          </a:xfrm>
          <a:prstGeom prst="rect">
            <a:avLst/>
          </a:prstGeom>
          <a:noFill/>
          <a:ln>
            <a:noFill/>
          </a:ln>
        </p:spPr>
      </p:pic>
      <p:sp>
        <p:nvSpPr>
          <p:cNvPr id="10" name="TextBox 9">
            <a:extLst>
              <a:ext uri="{FF2B5EF4-FFF2-40B4-BE49-F238E27FC236}">
                <a16:creationId xmlns:a16="http://schemas.microsoft.com/office/drawing/2014/main" id="{F5E047DD-1DDC-855C-C4A7-DFA68A704DF6}"/>
              </a:ext>
            </a:extLst>
          </p:cNvPr>
          <p:cNvSpPr txBox="1"/>
          <p:nvPr/>
        </p:nvSpPr>
        <p:spPr>
          <a:xfrm>
            <a:off x="5410200" y="5107041"/>
            <a:ext cx="4869872" cy="923330"/>
          </a:xfrm>
          <a:prstGeom prst="rect">
            <a:avLst/>
          </a:prstGeom>
          <a:noFill/>
        </p:spPr>
        <p:txBody>
          <a:bodyPr wrap="square" rtlCol="0">
            <a:spAutoFit/>
          </a:bodyPr>
          <a:lstStyle/>
          <a:p>
            <a:r>
              <a:rPr lang="en-GB" dirty="0"/>
              <a:t>Instagram: </a:t>
            </a:r>
            <a:r>
              <a:rPr lang="en-GB" dirty="0" err="1"/>
              <a:t>CounsellingHQ</a:t>
            </a:r>
            <a:endParaRPr lang="en-GB" dirty="0"/>
          </a:p>
          <a:p>
            <a:r>
              <a:rPr lang="en-GB" dirty="0" err="1"/>
              <a:t>Linkedln</a:t>
            </a:r>
            <a:r>
              <a:rPr lang="en-GB"/>
              <a:t>: </a:t>
            </a:r>
            <a:endParaRPr lang="en-GB" dirty="0"/>
          </a:p>
          <a:p>
            <a:r>
              <a:rPr lang="en-GB" dirty="0"/>
              <a:t>Facebook:</a:t>
            </a:r>
          </a:p>
        </p:txBody>
      </p:sp>
    </p:spTree>
    <p:extLst>
      <p:ext uri="{BB962C8B-B14F-4D97-AF65-F5344CB8AC3E}">
        <p14:creationId xmlns:p14="http://schemas.microsoft.com/office/powerpoint/2010/main" val="3890842700"/>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docProps/app.xml><?xml version="1.0" encoding="utf-8"?>
<Properties xmlns="http://schemas.openxmlformats.org/officeDocument/2006/extended-properties" xmlns:vt="http://schemas.openxmlformats.org/officeDocument/2006/docPropsVTypes">
  <TotalTime>31285</TotalTime>
  <Words>3904</Words>
  <Application>Microsoft Office PowerPoint</Application>
  <PresentationFormat>Widescreen</PresentationFormat>
  <Paragraphs>198</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Arial</vt:lpstr>
      <vt:lpstr>Neue Haas Grotesk Text Pro</vt:lpstr>
      <vt:lpstr>Helena</vt:lpstr>
      <vt:lpstr>Counselling HQ Website Content</vt:lpstr>
      <vt:lpstr>Welcome to Counselling HQ Specialist Counselling &amp; Psychotherapy for Children &amp; Adults  Natasha Hilton-Quick Integrative. Dip.Couns, MBACP A safe space to feel heard and understood </vt:lpstr>
      <vt:lpstr>Meet Natasha</vt:lpstr>
      <vt:lpstr>Professional background </vt:lpstr>
      <vt:lpstr>My Therapeutic Approach</vt:lpstr>
      <vt:lpstr>Counselling for Adults &amp; Young People</vt:lpstr>
      <vt:lpstr>Counselling for Children</vt:lpstr>
      <vt:lpstr>How therapy can support change</vt:lpstr>
      <vt:lpstr>Areas of Specialism</vt:lpstr>
      <vt:lpstr>Location &amp; Sessions    </vt:lpstr>
      <vt:lpstr>Begin Your Counselling HQ Journey </vt:lpstr>
      <vt:lpstr>Professional Fees</vt:lpstr>
      <vt:lpstr>My Therapy Room: Need better photos &amp; Photos of me in the room  </vt:lpstr>
      <vt:lpstr>Policies &amp; Ethics</vt:lpstr>
      <vt:lpstr>Signosting</vt:lpstr>
      <vt:lpstr>FAQ’s</vt:lpstr>
      <vt:lpstr>PowerPoint Presentation</vt:lpstr>
      <vt:lpstr>PowerPoint Presentation</vt:lpstr>
      <vt:lpstr>PowerPoint Presentation</vt:lpstr>
      <vt:lpstr>PowerPoint Presentation</vt:lpstr>
      <vt:lpstr>Certificates and Badges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Quick</dc:creator>
  <cp:lastModifiedBy>Natasha Hilton</cp:lastModifiedBy>
  <cp:revision>5</cp:revision>
  <dcterms:created xsi:type="dcterms:W3CDTF">2025-12-27T16:53:37Z</dcterms:created>
  <dcterms:modified xsi:type="dcterms:W3CDTF">2026-01-19T19:18:32Z</dcterms:modified>
</cp:coreProperties>
</file>